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5.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6.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7.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4581bc7d-4ec3-843a-fc04-757443538060}">
          <p14:sldIdLst>
            <p14:sldId id="256"/>
            <p14:sldId id="257"/>
          </p14:sldIdLst>
        </p14:section>
        <p14:section name="Data and evaluation" id="{2e916c09-0c70-a503-c1e7-68663fc73086}">
          <p14:sldIdLst>
            <p14:sldId id="258"/>
            <p14:sldId id="259"/>
          </p14:sldIdLst>
        </p14:section>
        <p14:section name="Image features" id="{0fb1f232-e86e-99bd-60a0-4669e5becae0}">
          <p14:sldIdLst>
            <p14:sldId id="260"/>
            <p14:sldId id="261"/>
            <p14:sldId id="262"/>
            <p14:sldId id="263"/>
          </p14:sldIdLst>
        </p14:section>
        <p14:section name="Neural networks and alternatives" id="{8f8db071-7b15-4381-e1db-8e7840a0b974}">
          <p14:sldIdLst>
            <p14:sldId id="264"/>
            <p14:sldId id="265"/>
          </p14:sldIdLst>
        </p14:section>
        <p14:section name="Labels" id="{3e9a3860-8062-074a-6c21-c25093ad2970}">
          <p14:sldIdLst>
            <p14:sldId id="266"/>
            <p14:sldId id="267"/>
            <p14:sldId id="268"/>
            <p14:sldId id="269"/>
          </p14:sldIdLst>
        </p14:section>
        <p14:section name="Next steps" id="{1d59182c-0e11-8227-4f2e-a8a61f717cee}">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6B7B88"/>
                </a:solidFill>
                <a:latin typeface="+mn-lt"/>
              </a:defRPr>
            </a:pPr>
            <a:r>
              <a:rPr sz="1300" b="0" i="0" u="none" strike="noStrike">
                <a:solidFill>
                  <a:srgbClr val="6B7B88"/>
                </a:solidFill>
                <a:latin typeface="+mn-lt"/>
              </a:rPr>
              <a:t>F1, mean of 15 session folds</a:t>
            </a:r>
          </a:p>
        </c:rich>
      </c:tx>
      <c:layout/>
      <c:overlay val="0"/>
    </c:title>
    <c:autoTitleDeleted val="0"/>
    <c:plotArea>
      <c:layout/>
      <c:barChart>
        <c:barDir val="bar"/>
        <c:grouping val="clustered"/>
        <c:varyColors val="0"/>
        <c:ser>
          <c:idx val="0"/>
          <c:order val="0"/>
          <c:tx>
            <c:strRef>
              <c:f>Sheet1!$B$1</c:f>
              <c:strCache>
                <c:ptCount val="1"/>
                <c:pt idx="0">
                  <c:v>F1</c:v>
                </c:pt>
              </c:strCache>
            </c:strRef>
          </c:tx>
          <c:spPr>
            <a:solidFill>
              <a:srgbClr val="6B7B88"/>
            </a:solidFill>
            <a:effectLst/>
          </c:spPr>
          <c:invertIfNegative val="0"/>
          <c:dLbls>
            <c:numFmt formatCode="0.000" sourceLinked="0"/>
            <c:txPr>
              <a:bodyPr/>
              <a:lstStyle/>
              <a:p>
                <a:pPr>
                  <a:defRPr b="0" i="0" strike="noStrike" sz="1100" u="none">
                    <a:solidFill>
                      <a:srgbClr val="1B2631"/>
                    </a:solidFill>
                    <a:latin typeface="+mn-lt"/>
                  </a:defRPr>
                </a:pPr>
              </a:p>
            </c:txPr>
            <c:showLegendKey val="0"/>
            <c:showVal val="1"/>
            <c:showCatName val="0"/>
            <c:showSerName val="0"/>
            <c:showPercent val="0"/>
            <c:showBubbleSize val="0"/>
            <c:showLeaderLines val="0"/>
          </c:dLbls>
          <c:dPt>
            <c:idx val="0"/>
            <c:invertIfNegative val="0"/>
            <c:bubble3D val="0"/>
            <c:spPr>
              <a:solidFill>
                <a:srgbClr val="6B7B88"/>
              </a:solidFill>
              <a:effectLst/>
            </c:spPr>
          </c:dPt>
          <c:dPt>
            <c:idx val="1"/>
            <c:invertIfNegative val="0"/>
            <c:bubble3D val="0"/>
            <c:spPr>
              <a:solidFill>
                <a:srgbClr val="6B7B88"/>
              </a:solidFill>
              <a:effectLst/>
            </c:spPr>
          </c:dPt>
          <c:dPt>
            <c:idx val="2"/>
            <c:invertIfNegative val="0"/>
            <c:bubble3D val="0"/>
            <c:spPr>
              <a:solidFill>
                <a:srgbClr val="6B7B88"/>
              </a:solidFill>
              <a:effectLst/>
            </c:spPr>
          </c:dPt>
          <c:dPt>
            <c:idx val="3"/>
            <c:invertIfNegative val="0"/>
            <c:bubble3D val="0"/>
            <c:spPr>
              <a:solidFill>
                <a:srgbClr val="12A37D"/>
              </a:solidFill>
              <a:effectLst/>
            </c:spPr>
          </c:dPt>
          <c:dPt>
            <c:idx val="4"/>
            <c:invertIfNegative val="0"/>
            <c:bubble3D val="0"/>
            <c:spPr>
              <a:solidFill>
                <a:srgbClr val="12A37D"/>
              </a:solidFill>
              <a:effectLst/>
            </c:spPr>
          </c:dPt>
          <c:dPt>
            <c:idx val="5"/>
            <c:invertIfNegative val="0"/>
            <c:bubble3D val="0"/>
            <c:spPr>
              <a:solidFill>
                <a:srgbClr val="0E6E7E"/>
              </a:solidFill>
              <a:effectLst/>
            </c:spPr>
          </c:dPt>
          <c:cat>
            <c:multiLvlStrRef>
              <c:f>Sheet1!$A$2:$A$7</c:f>
              <c:multiLvlStrCache>
                <c:ptCount val="6"/>
                <c:lvl>
                  <c:pt idx="0">
                    <c:v>Baseline (27)</c:v>
                  </c:pt>
                  <c:pt idx="1">
                    <c:v>+ trace-norm</c:v>
                  </c:pt>
                  <c:pt idx="2">
                    <c:v>Trace-norm replaces raw q/range</c:v>
                  </c:pt>
                  <c:pt idx="3">
                    <c:v>+ ring contrast</c:v>
                  </c:pt>
                  <c:pt idx="4">
                    <c:v>+ lam correlation</c:v>
                  </c:pt>
                  <c:pt idx="5">
                    <c:v>+ all image features</c:v>
                  </c:pt>
                </c:lvl>
              </c:multiLvlStrCache>
            </c:multiLvlStrRef>
          </c:cat>
          <c:val>
            <c:numRef>
              <c:f>Sheet1!$B$2:$B$7</c:f>
              <c:numCache>
                <c:formatCode>General</c:formatCode>
                <c:ptCount val="6"/>
                <c:pt idx="0">
                  <c:v>0.827</c:v>
                </c:pt>
                <c:pt idx="1">
                  <c:v>0.828</c:v>
                </c:pt>
                <c:pt idx="2">
                  <c:v>0.826</c:v>
                </c:pt>
                <c:pt idx="3">
                  <c:v>0.843</c:v>
                </c:pt>
                <c:pt idx="4">
                  <c:v>0.85</c:v>
                </c:pt>
                <c:pt idx="5">
                  <c:v>0.853</c:v>
                </c:pt>
              </c:numCache>
            </c:numRef>
          </c:val>
        </c:ser>
        <c:dLbls>
          <c:numFmt formatCode="0.000" sourceLinked="0"/>
          <c:txPr>
            <a:bodyPr/>
            <a:lstStyle/>
            <a:p>
              <a:pPr>
                <a:defRPr b="0" i="0" strike="noStrike" sz="1100" u="none">
                  <a:solidFill>
                    <a:srgbClr val="1B2631"/>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631"/>
                </a:solidFill>
                <a:latin typeface="+mn-lt"/>
              </a:defRPr>
            </a:pPr>
            <a:endParaRPr lang="en-US"/>
          </a:p>
        </c:txPr>
        <c:crossAx val="2094734552"/>
        <c:crosses val="autoZero"/>
        <c:auto val="1"/>
        <c:lblAlgn val="ctr"/>
        <c:noMultiLvlLbl val="1"/>
      </c:catAx>
      <c:valAx>
        <c:axId val="2094734552"/>
        <c:scaling>
          <c:orientation val="minMax"/>
          <c:max val="0.86"/>
          <c:min val="0.8"/>
        </c:scaling>
        <c:delete val="0"/>
        <c:axPos val="b"/>
        <c:majorGridlines>
          <c:spPr>
            <a:ln w="9525" cap="flat">
              <a:solidFill>
                <a:srgbClr val="DDE5E4"/>
              </a:solidFill>
              <a:prstDash val="solid"/>
              <a:round/>
            </a:ln>
          </c:spPr>
        </c:majorGridlines>
        <c:numFmt formatCode="0.00"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B88"/>
                </a:solidFill>
                <a:latin typeface="+mn-lt"/>
              </a:defRPr>
            </a:pPr>
            <a:endParaRPr lang="en-US"/>
          </a:p>
        </c:txPr>
        <c:crossAx val="2094734554"/>
        <c:crosses val="autoZero"/>
        <c:crossBetween val="between"/>
        <c:majorUnit val="0.01"/>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Baseline (27)</c:v>
                </c:pt>
              </c:strCache>
            </c:strRef>
          </c:tx>
          <c:spPr>
            <a:solidFill>
              <a:srgbClr val="6B7B88"/>
            </a:solidFill>
            <a:effectLst/>
          </c:spPr>
          <c:invertIfNegative val="0"/>
          <c:dLbls>
            <c:numFmt formatCode="0.00" sourceLinked="0"/>
            <c:txPr>
              <a:bodyPr/>
              <a:lstStyle/>
              <a:p>
                <a:pPr>
                  <a:defRPr b="0" i="0" strike="noStrike" sz="1000" u="none">
                    <a:solidFill>
                      <a:srgbClr val="1B2631"/>
                    </a:solidFill>
                    <a:latin typeface="+mn-lt"/>
                  </a:defRPr>
                </a:pPr>
              </a:p>
            </c:txPr>
            <c:showLegendKey val="0"/>
            <c:showVal val="1"/>
            <c:showCatName val="0"/>
            <c:showSerName val="0"/>
            <c:showPercent val="0"/>
            <c:showBubbleSize val="0"/>
            <c:showLeaderLines val="0"/>
          </c:dLbls>
          <c:cat>
            <c:multiLvlStrRef>
              <c:f>Sheet1!$A$2:$A$11</c:f>
              <c:multiLvlStrCache>
                <c:ptCount val="10"/>
                <c:lvl>
                  <c:pt idx="0">
                    <c:v>Inbar12</c:v>
                  </c:pt>
                  <c:pt idx="1">
                    <c:v>Inbar3</c:v>
                  </c:pt>
                  <c:pt idx="2">
                    <c:v>Stav14</c:v>
                  </c:pt>
                  <c:pt idx="3">
                    <c:v>inbar1</c:v>
                  </c:pt>
                  <c:pt idx="4">
                    <c:v>Inbar9</c:v>
                  </c:pt>
                  <c:pt idx="5">
                    <c:v>Inbar11</c:v>
                  </c:pt>
                  <c:pt idx="6">
                    <c:v>Inbar2</c:v>
                  </c:pt>
                  <c:pt idx="7">
                    <c:v>Inbar10</c:v>
                  </c:pt>
                  <c:pt idx="8">
                    <c:v>Inbar5</c:v>
                  </c:pt>
                  <c:pt idx="9">
                    <c:v>Stav8</c:v>
                  </c:pt>
                </c:lvl>
              </c:multiLvlStrCache>
            </c:multiLvlStrRef>
          </c:cat>
          <c:val>
            <c:numRef>
              <c:f>Sheet1!$B$2:$B$11</c:f>
              <c:numCache>
                <c:formatCode>General</c:formatCode>
                <c:ptCount val="10"/>
                <c:pt idx="0">
                  <c:v>0.685</c:v>
                </c:pt>
                <c:pt idx="1">
                  <c:v>0.693</c:v>
                </c:pt>
                <c:pt idx="2">
                  <c:v>0.746</c:v>
                </c:pt>
                <c:pt idx="3">
                  <c:v>0.755</c:v>
                </c:pt>
                <c:pt idx="4">
                  <c:v>0.763</c:v>
                </c:pt>
                <c:pt idx="5">
                  <c:v>0.767</c:v>
                </c:pt>
                <c:pt idx="6">
                  <c:v>0.78</c:v>
                </c:pt>
                <c:pt idx="7">
                  <c:v>0.786</c:v>
                </c:pt>
                <c:pt idx="8">
                  <c:v>0.787</c:v>
                </c:pt>
                <c:pt idx="9">
                  <c:v>0.807</c:v>
                </c:pt>
              </c:numCache>
            </c:numRef>
          </c:val>
        </c:ser>
        <c:ser>
          <c:idx val="1"/>
          <c:order val="1"/>
          <c:tx>
            <c:strRef>
              <c:f>Sheet1!$C$1</c:f>
              <c:strCache>
                <c:ptCount val="1"/>
                <c:pt idx="0">
                  <c:v>+ image features</c:v>
                </c:pt>
              </c:strCache>
            </c:strRef>
          </c:tx>
          <c:spPr>
            <a:solidFill>
              <a:srgbClr val="12A37D"/>
            </a:solidFill>
            <a:effectLst/>
          </c:spPr>
          <c:invertIfNegative val="0"/>
          <c:dLbls>
            <c:numFmt formatCode="0.00" sourceLinked="0"/>
            <c:txPr>
              <a:bodyPr/>
              <a:lstStyle/>
              <a:p>
                <a:pPr>
                  <a:defRPr b="0" i="0" strike="noStrike" sz="1000" u="none">
                    <a:solidFill>
                      <a:srgbClr val="1B2631"/>
                    </a:solidFill>
                    <a:latin typeface="+mn-lt"/>
                  </a:defRPr>
                </a:pPr>
              </a:p>
            </c:txPr>
            <c:showLegendKey val="0"/>
            <c:showVal val="1"/>
            <c:showCatName val="0"/>
            <c:showSerName val="0"/>
            <c:showPercent val="0"/>
            <c:showBubbleSize val="0"/>
            <c:showLeaderLines val="0"/>
          </c:dLbls>
          <c:cat>
            <c:multiLvlStrRef>
              <c:f>Sheet1!$A$2:$A$11</c:f>
              <c:multiLvlStrCache>
                <c:ptCount val="10"/>
                <c:lvl>
                  <c:pt idx="0">
                    <c:v>Inbar12</c:v>
                  </c:pt>
                  <c:pt idx="1">
                    <c:v>Inbar3</c:v>
                  </c:pt>
                  <c:pt idx="2">
                    <c:v>Stav14</c:v>
                  </c:pt>
                  <c:pt idx="3">
                    <c:v>inbar1</c:v>
                  </c:pt>
                  <c:pt idx="4">
                    <c:v>Inbar9</c:v>
                  </c:pt>
                  <c:pt idx="5">
                    <c:v>Inbar11</c:v>
                  </c:pt>
                  <c:pt idx="6">
                    <c:v>Inbar2</c:v>
                  </c:pt>
                  <c:pt idx="7">
                    <c:v>Inbar10</c:v>
                  </c:pt>
                  <c:pt idx="8">
                    <c:v>Inbar5</c:v>
                  </c:pt>
                  <c:pt idx="9">
                    <c:v>Stav8</c:v>
                  </c:pt>
                </c:lvl>
              </c:multiLvlStrCache>
            </c:multiLvlStrRef>
          </c:cat>
          <c:val>
            <c:numRef>
              <c:f>Sheet1!$C$2:$C$11</c:f>
              <c:numCache>
                <c:formatCode>General</c:formatCode>
                <c:ptCount val="10"/>
                <c:pt idx="0">
                  <c:v>0.805</c:v>
                </c:pt>
                <c:pt idx="1">
                  <c:v>0.742</c:v>
                </c:pt>
                <c:pt idx="2">
                  <c:v>0.761</c:v>
                </c:pt>
                <c:pt idx="3">
                  <c:v>0.805</c:v>
                </c:pt>
                <c:pt idx="4">
                  <c:v>0.799</c:v>
                </c:pt>
                <c:pt idx="5">
                  <c:v>0.825</c:v>
                </c:pt>
                <c:pt idx="6">
                  <c:v>0.822</c:v>
                </c:pt>
                <c:pt idx="7">
                  <c:v>0.813</c:v>
                </c:pt>
                <c:pt idx="8">
                  <c:v>0.812</c:v>
                </c:pt>
                <c:pt idx="9">
                  <c:v>0.852</c:v>
                </c:pt>
              </c:numCache>
            </c:numRef>
          </c:val>
        </c:ser>
        <c:dLbls>
          <c:numFmt formatCode="0.00" sourceLinked="0"/>
          <c:txPr>
            <a:bodyPr/>
            <a:lstStyle/>
            <a:p>
              <a:pPr>
                <a:defRPr b="0" i="0" strike="noStrike" sz="1000" u="none">
                  <a:solidFill>
                    <a:srgbClr val="1B2631"/>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631"/>
                </a:solidFill>
                <a:latin typeface="+mn-lt"/>
              </a:defRPr>
            </a:pPr>
            <a:endParaRPr lang="en-US"/>
          </a:p>
        </c:txPr>
        <c:crossAx val="2094734552"/>
        <c:crosses val="autoZero"/>
        <c:auto val="1"/>
        <c:lblAlgn val="ctr"/>
        <c:noMultiLvlLbl val="1"/>
      </c:catAx>
      <c:valAx>
        <c:axId val="2094734552"/>
        <c:scaling>
          <c:orientation val="minMax"/>
          <c:max val="0.9"/>
          <c:min val="0.6"/>
        </c:scaling>
        <c:delete val="0"/>
        <c:axPos val="l"/>
        <c:majorGridlines>
          <c:spPr>
            <a:ln w="9525" cap="flat">
              <a:solidFill>
                <a:srgbClr val="DDE5E4"/>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B88"/>
                </a:solidFill>
                <a:latin typeface="+mn-lt"/>
              </a:defRPr>
            </a:pPr>
            <a:endParaRPr lang="en-US"/>
          </a:p>
        </c:txPr>
        <c:crossAx val="2094734554"/>
        <c:crosses val="autoZero"/>
        <c:crossBetween val="between"/>
        <c:majorUnit val="0.05"/>
      </c:valAx>
      <c:spPr>
        <a:noFill/>
        <a:ln>
          <a:noFill/>
        </a:ln>
        <a:effectLst/>
      </c:spPr>
    </c:plotArea>
    <c:legend>
      <c:legendPos val="t"/>
      <c:overlay val="0"/>
      <c:txPr>
        <a:bodyPr/>
        <a:lstStyle/>
        <a:p>
          <a:pPr>
            <a:defRPr sz="1200">
              <a:solidFill>
                <a:srgbClr val="1B263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6B7B88"/>
                </a:solidFill>
                <a:latin typeface="+mn-lt"/>
              </a:defRPr>
            </a:pPr>
            <a:r>
              <a:rPr sz="1300" b="0" i="0" u="none" strike="noStrike">
                <a:solidFill>
                  <a:srgbClr val="6B7B88"/>
                </a:solidFill>
                <a:latin typeface="+mn-lt"/>
              </a:rPr>
              <a:t>Mean |SHAP|, held-out folds</a:t>
            </a:r>
          </a:p>
        </c:rich>
      </c:tx>
      <c:layout/>
      <c:overlay val="0"/>
    </c:title>
    <c:autoTitleDeleted val="0"/>
    <c:plotArea>
      <c:layout/>
      <c:barChart>
        <c:barDir val="bar"/>
        <c:grouping val="stacked"/>
        <c:varyColors val="0"/>
        <c:ser>
          <c:idx val="0"/>
          <c:order val="0"/>
          <c:tx>
            <c:strRef>
              <c:f>Sheet1!$B$1</c:f>
              <c:strCache>
                <c:ptCount val="1"/>
                <c:pt idx="0">
                  <c:v>New feature</c:v>
                </c:pt>
              </c:strCache>
            </c:strRef>
          </c:tx>
          <c:spPr>
            <a:solidFill>
              <a:srgbClr val="12A37D"/>
            </a:solidFill>
            <a:effectLst/>
          </c:spPr>
          <c:invertIfNegative val="0"/>
          <c:dLbls>
            <c:numFmt formatCode="#,##0" sourceLinked="0"/>
            <c:txPr>
              <a:bodyPr/>
              <a:lstStyle/>
              <a:p>
                <a:pPr>
                  <a:defRPr b="0" i="0" strike="noStrike" sz="1100" u="none">
                    <a:solidFill>
                      <a:srgbClr val="1B2631"/>
                    </a:solidFill>
                    <a:latin typeface="+mn-lt"/>
                  </a:defRPr>
                </a:pPr>
              </a:p>
            </c:txPr>
            <c:showLegendKey val="0"/>
            <c:showVal val="0"/>
            <c:showCatName val="0"/>
            <c:showSerName val="0"/>
            <c:showPercent val="0"/>
            <c:showBubbleSize val="0"/>
            <c:showLeaderLines val="0"/>
          </c:dLbls>
          <c:cat>
            <c:multiLvlStrRef>
              <c:f>Sheet1!$A$2:$A$13</c:f>
              <c:multiLvlStrCache>
                <c:ptCount val="12"/>
                <c:lvl>
                  <c:pt idx="0">
                    <c:v>max_proj_lam_corr</c:v>
                  </c:pt>
                  <c:pt idx="1">
                    <c:v>mrs</c:v>
                  </c:pt>
                  <c:pt idx="2">
                    <c:v>Vcorr_in_mean</c:v>
                  </c:pt>
                  <c:pt idx="3">
                    <c:v>skew_fcorr</c:v>
                  </c:pt>
                  <c:pt idx="4">
                    <c:v>std_fcorr</c:v>
                  </c:pt>
                  <c:pt idx="5">
                    <c:v>meanImg_neuropil_contrast</c:v>
                  </c:pt>
                  <c:pt idx="6">
                    <c:v>std_f</c:v>
                  </c:pt>
                  <c:pt idx="7">
                    <c:v>corr_f_fneu</c:v>
                  </c:pt>
                  <c:pt idx="8">
                    <c:v>radius</c:v>
                  </c:pt>
                  <c:pt idx="9">
                    <c:v>q999_over_noise</c:v>
                  </c:pt>
                  <c:pt idx="10">
                    <c:v>compact</c:v>
                  </c:pt>
                  <c:pt idx="11">
                    <c:v>range_ratio_f_fneu</c:v>
                  </c:pt>
                </c:lvl>
              </c:multiLvlStrCache>
            </c:multiLvlStrRef>
          </c:cat>
          <c:val>
            <c:numRef>
              <c:f>Sheet1!$B$2:$B$13</c:f>
              <c:numCache>
                <c:formatCode>General</c:formatCode>
                <c:ptCount val="12"/>
                <c:pt idx="0">
                  <c:v>1.081</c:v>
                </c:pt>
                <c:pt idx="1">
                  <c:v>0</c:v>
                </c:pt>
                <c:pt idx="2">
                  <c:v>0.517</c:v>
                </c:pt>
                <c:pt idx="3">
                  <c:v>0</c:v>
                </c:pt>
                <c:pt idx="4">
                  <c:v>0</c:v>
                </c:pt>
                <c:pt idx="5">
                  <c:v>0.285</c:v>
                </c:pt>
                <c:pt idx="6">
                  <c:v>0</c:v>
                </c:pt>
                <c:pt idx="7">
                  <c:v>0</c:v>
                </c:pt>
                <c:pt idx="8">
                  <c:v>0</c:v>
                </c:pt>
                <c:pt idx="9">
                  <c:v>0.232</c:v>
                </c:pt>
                <c:pt idx="10">
                  <c:v>0</c:v>
                </c:pt>
                <c:pt idx="11">
                  <c:v>0</c:v>
                </c:pt>
              </c:numCache>
            </c:numRef>
          </c:val>
        </c:ser>
        <c:ser>
          <c:idx val="1"/>
          <c:order val="1"/>
          <c:tx>
            <c:strRef>
              <c:f>Sheet1!$C$1</c:f>
              <c:strCache>
                <c:ptCount val="1"/>
                <c:pt idx="0">
                  <c:v>Existing feature</c:v>
                </c:pt>
              </c:strCache>
            </c:strRef>
          </c:tx>
          <c:spPr>
            <a:solidFill>
              <a:srgbClr val="6B7B88"/>
            </a:solidFill>
            <a:effectLst/>
          </c:spPr>
          <c:invertIfNegative val="0"/>
          <c:dLbls>
            <c:numFmt formatCode="#,##0" sourceLinked="0"/>
            <c:txPr>
              <a:bodyPr/>
              <a:lstStyle/>
              <a:p>
                <a:pPr>
                  <a:defRPr b="0" i="0" strike="noStrike" sz="1100" u="none">
                    <a:solidFill>
                      <a:srgbClr val="1B2631"/>
                    </a:solidFill>
                    <a:latin typeface="+mn-lt"/>
                  </a:defRPr>
                </a:pPr>
              </a:p>
            </c:txPr>
            <c:showLegendKey val="0"/>
            <c:showVal val="0"/>
            <c:showCatName val="0"/>
            <c:showSerName val="0"/>
            <c:showPercent val="0"/>
            <c:showBubbleSize val="0"/>
            <c:showLeaderLines val="0"/>
          </c:dLbls>
          <c:cat>
            <c:multiLvlStrRef>
              <c:f>Sheet1!$A$2:$A$13</c:f>
              <c:multiLvlStrCache>
                <c:ptCount val="12"/>
                <c:lvl>
                  <c:pt idx="0">
                    <c:v>max_proj_lam_corr</c:v>
                  </c:pt>
                  <c:pt idx="1">
                    <c:v>mrs</c:v>
                  </c:pt>
                  <c:pt idx="2">
                    <c:v>Vcorr_in_mean</c:v>
                  </c:pt>
                  <c:pt idx="3">
                    <c:v>skew_fcorr</c:v>
                  </c:pt>
                  <c:pt idx="4">
                    <c:v>std_fcorr</c:v>
                  </c:pt>
                  <c:pt idx="5">
                    <c:v>meanImg_neuropil_contrast</c:v>
                  </c:pt>
                  <c:pt idx="6">
                    <c:v>std_f</c:v>
                  </c:pt>
                  <c:pt idx="7">
                    <c:v>corr_f_fneu</c:v>
                  </c:pt>
                  <c:pt idx="8">
                    <c:v>radius</c:v>
                  </c:pt>
                  <c:pt idx="9">
                    <c:v>q999_over_noise</c:v>
                  </c:pt>
                  <c:pt idx="10">
                    <c:v>compact</c:v>
                  </c:pt>
                  <c:pt idx="11">
                    <c:v>range_ratio_f_fneu</c:v>
                  </c:pt>
                </c:lvl>
              </c:multiLvlStrCache>
            </c:multiLvlStrRef>
          </c:cat>
          <c:val>
            <c:numRef>
              <c:f>Sheet1!$C$2:$C$13</c:f>
              <c:numCache>
                <c:formatCode>General</c:formatCode>
                <c:ptCount val="12"/>
                <c:pt idx="0">
                  <c:v>0</c:v>
                </c:pt>
                <c:pt idx="1">
                  <c:v>0.869</c:v>
                </c:pt>
                <c:pt idx="2">
                  <c:v>0</c:v>
                </c:pt>
                <c:pt idx="3">
                  <c:v>0.422</c:v>
                </c:pt>
                <c:pt idx="4">
                  <c:v>0.33</c:v>
                </c:pt>
                <c:pt idx="5">
                  <c:v>0</c:v>
                </c:pt>
                <c:pt idx="6">
                  <c:v>0.27</c:v>
                </c:pt>
                <c:pt idx="7">
                  <c:v>0.248</c:v>
                </c:pt>
                <c:pt idx="8">
                  <c:v>0.236</c:v>
                </c:pt>
                <c:pt idx="9">
                  <c:v>0</c:v>
                </c:pt>
                <c:pt idx="10">
                  <c:v>0.221</c:v>
                </c:pt>
                <c:pt idx="11">
                  <c:v>0.207</c:v>
                </c:pt>
              </c:numCache>
            </c:numRef>
          </c:val>
        </c:ser>
        <c:dLbls>
          <c:numFmt formatCode="#,##0" sourceLinked="0"/>
          <c:txPr>
            <a:bodyPr/>
            <a:lstStyle/>
            <a:p>
              <a:pPr>
                <a:defRPr b="0" i="0" strike="noStrike" sz="1100" u="none">
                  <a:solidFill>
                    <a:srgbClr val="1B2631"/>
                  </a:solidFill>
                  <a:latin typeface="+mn-lt"/>
                </a:defRPr>
              </a:pPr>
            </a:p>
          </c:txPr>
          <c:showLegendKey val="0"/>
          <c:showVal val="0"/>
          <c:showCatName val="0"/>
          <c:showSerName val="0"/>
          <c:showPercent val="0"/>
          <c:showBubbleSize val="0"/>
          <c:showLeaderLines val="0"/>
        </c:dLbls>
        <c:gapWidth val="4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2631"/>
                </a:solidFill>
                <a:latin typeface="+mn-lt"/>
              </a:defRPr>
            </a:pPr>
            <a:endParaRPr lang="en-US"/>
          </a:p>
        </c:txPr>
        <c:crossAx val="2094734552"/>
        <c:crosses val="autoZero"/>
        <c:auto val="1"/>
        <c:lblAlgn val="ctr"/>
        <c:noMultiLvlLbl val="1"/>
      </c:catAx>
      <c:valAx>
        <c:axId val="2094734552"/>
        <c:scaling>
          <c:orientation val="minMax"/>
        </c:scaling>
        <c:delete val="0"/>
        <c:axPos val="b"/>
        <c:majorGridlines>
          <c:spPr>
            <a:ln w="9525" cap="flat">
              <a:solidFill>
                <a:srgbClr val="DDE5E4"/>
              </a:solidFill>
              <a:prstDash val="solid"/>
              <a:round/>
            </a:ln>
          </c:spPr>
        </c:majorGridlines>
        <c:numFmt formatCode="0.0"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B8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263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6B7B88"/>
                </a:solidFill>
                <a:latin typeface="+mn-lt"/>
              </a:defRPr>
            </a:pPr>
            <a:r>
              <a:rPr sz="1300" b="0" i="0" u="none" strike="noStrike">
                <a:solidFill>
                  <a:srgbClr val="6B7B88"/>
                </a:solidFill>
                <a:latin typeface="+mn-lt"/>
              </a:rPr>
              <a:t>F1, mean of 5 session folds</a:t>
            </a:r>
          </a:p>
        </c:rich>
      </c:tx>
      <c:layout/>
      <c:overlay val="0"/>
    </c:title>
    <c:autoTitleDeleted val="0"/>
    <c:plotArea>
      <c:layout/>
      <c:barChart>
        <c:barDir val="bar"/>
        <c:grouping val="clustered"/>
        <c:varyColors val="0"/>
        <c:ser>
          <c:idx val="0"/>
          <c:order val="0"/>
          <c:tx>
            <c:strRef>
              <c:f>Sheet1!$B$1</c:f>
              <c:strCache>
                <c:ptCount val="1"/>
                <c:pt idx="0">
                  <c:v>F1</c:v>
                </c:pt>
              </c:strCache>
            </c:strRef>
          </c:tx>
          <c:spPr>
            <a:solidFill>
              <a:srgbClr val="6B7B88"/>
            </a:solidFill>
            <a:effectLst/>
          </c:spPr>
          <c:invertIfNegative val="0"/>
          <c:dLbls>
            <c:numFmt formatCode="0.000" sourceLinked="0"/>
            <c:txPr>
              <a:bodyPr/>
              <a:lstStyle/>
              <a:p>
                <a:pPr>
                  <a:defRPr b="0" i="0" strike="noStrike" sz="1100" u="none">
                    <a:solidFill>
                      <a:srgbClr val="1B2631"/>
                    </a:solidFill>
                    <a:latin typeface="+mn-lt"/>
                  </a:defRPr>
                </a:pPr>
              </a:p>
            </c:txPr>
            <c:showLegendKey val="0"/>
            <c:showVal val="1"/>
            <c:showCatName val="0"/>
            <c:showSerName val="0"/>
            <c:showPercent val="0"/>
            <c:showBubbleSize val="0"/>
            <c:showLeaderLines val="0"/>
          </c:dLbls>
          <c:dPt>
            <c:idx val="0"/>
            <c:invertIfNegative val="0"/>
            <c:bubble3D val="0"/>
            <c:spPr>
              <a:solidFill>
                <a:srgbClr val="6B7B88"/>
              </a:solidFill>
              <a:effectLst/>
            </c:spPr>
          </c:dPt>
          <c:dPt>
            <c:idx val="1"/>
            <c:invertIfNegative val="0"/>
            <c:bubble3D val="0"/>
            <c:spPr>
              <a:solidFill>
                <a:srgbClr val="12A37D"/>
              </a:solidFill>
              <a:effectLst/>
            </c:spPr>
          </c:dPt>
          <c:dPt>
            <c:idx val="2"/>
            <c:invertIfNegative val="0"/>
            <c:bubble3D val="0"/>
            <c:spPr>
              <a:solidFill>
                <a:srgbClr val="0E6E7E"/>
              </a:solidFill>
              <a:effectLst/>
            </c:spPr>
          </c:dPt>
          <c:dPt>
            <c:idx val="3"/>
            <c:invertIfNegative val="0"/>
            <c:bubble3D val="0"/>
            <c:spPr>
              <a:solidFill>
                <a:srgbClr val="0E6E7E"/>
              </a:solidFill>
              <a:effectLst/>
            </c:spPr>
          </c:dPt>
          <c:dPt>
            <c:idx val="4"/>
            <c:invertIfNegative val="0"/>
            <c:bubble3D val="0"/>
            <c:spPr>
              <a:solidFill>
                <a:srgbClr val="0E6E7E"/>
              </a:solidFill>
              <a:effectLst/>
            </c:spPr>
          </c:dPt>
          <c:dPt>
            <c:idx val="5"/>
            <c:invertIfNegative val="0"/>
            <c:bubble3D val="0"/>
            <c:spPr>
              <a:solidFill>
                <a:srgbClr val="0E6E7E"/>
              </a:solidFill>
              <a:effectLst/>
            </c:spPr>
          </c:dPt>
          <c:cat>
            <c:multiLvlStrRef>
              <c:f>Sheet1!$A$2:$A$7</c:f>
              <c:multiLvlStrCache>
                <c:ptCount val="6"/>
                <c:lvl>
                  <c:pt idx="0">
                    <c:v>LightGBM, 27 features</c:v>
                  </c:pt>
                  <c:pt idx="1">
                    <c:v>LightGBM + image features</c:v>
                  </c:pt>
                  <c:pt idx="2">
                    <c:v>CNN alone (images only)</c:v>
                  </c:pt>
                  <c:pt idx="3">
                    <c:v>Fusion net (images + features)</c:v>
                  </c:pt>
                  <c:pt idx="4">
                    <c:v>LightGBM + image + CNN score</c:v>
                  </c:pt>
                  <c:pt idx="5">
                    <c:v>3-booster average + CNN embedding</c:v>
                  </c:pt>
                </c:lvl>
              </c:multiLvlStrCache>
            </c:multiLvlStrRef>
          </c:cat>
          <c:val>
            <c:numRef>
              <c:f>Sheet1!$B$2:$B$7</c:f>
              <c:numCache>
                <c:formatCode>General</c:formatCode>
                <c:ptCount val="6"/>
                <c:pt idx="0">
                  <c:v>0.828</c:v>
                </c:pt>
                <c:pt idx="1">
                  <c:v>0.853</c:v>
                </c:pt>
                <c:pt idx="2">
                  <c:v>0.85</c:v>
                </c:pt>
                <c:pt idx="3">
                  <c:v>0.858</c:v>
                </c:pt>
                <c:pt idx="4">
                  <c:v>0.859</c:v>
                </c:pt>
                <c:pt idx="5">
                  <c:v>0.861</c:v>
                </c:pt>
              </c:numCache>
            </c:numRef>
          </c:val>
        </c:ser>
        <c:dLbls>
          <c:numFmt formatCode="0.000" sourceLinked="0"/>
          <c:txPr>
            <a:bodyPr/>
            <a:lstStyle/>
            <a:p>
              <a:pPr>
                <a:defRPr b="0" i="0" strike="noStrike" sz="1100" u="none">
                  <a:solidFill>
                    <a:srgbClr val="1B2631"/>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631"/>
                </a:solidFill>
                <a:latin typeface="+mn-lt"/>
              </a:defRPr>
            </a:pPr>
            <a:endParaRPr lang="en-US"/>
          </a:p>
        </c:txPr>
        <c:crossAx val="2094734552"/>
        <c:crosses val="autoZero"/>
        <c:auto val="1"/>
        <c:lblAlgn val="ctr"/>
        <c:noMultiLvlLbl val="1"/>
      </c:catAx>
      <c:valAx>
        <c:axId val="2094734552"/>
        <c:scaling>
          <c:orientation val="minMax"/>
          <c:max val="0.87"/>
          <c:min val="0.8"/>
        </c:scaling>
        <c:delete val="0"/>
        <c:axPos val="b"/>
        <c:majorGridlines>
          <c:spPr>
            <a:ln w="9525" cap="flat">
              <a:solidFill>
                <a:srgbClr val="DDE5E4"/>
              </a:solidFill>
              <a:prstDash val="solid"/>
              <a:round/>
            </a:ln>
          </c:spPr>
        </c:majorGridlines>
        <c:numFmt formatCode="0.00"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B88"/>
                </a:solidFill>
                <a:latin typeface="+mn-lt"/>
              </a:defRPr>
            </a:pPr>
            <a:endParaRPr lang="en-US"/>
          </a:p>
        </c:txPr>
        <c:crossAx val="2094734554"/>
        <c:crosses val="autoZero"/>
        <c:crossBetween val="between"/>
        <c:majorUnit val="0.01"/>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6B7B88"/>
                </a:solidFill>
                <a:latin typeface="+mn-lt"/>
              </a:defRPr>
            </a:pPr>
            <a:r>
              <a:rPr sz="1300" b="0" i="0" u="none" strike="noStrike">
                <a:solidFill>
                  <a:srgbClr val="6B7B88"/>
                </a:solidFill>
                <a:latin typeface="+mn-lt"/>
              </a:rPr>
              <a:t>ΔF1, paired, vs the same model without the change</a:t>
            </a:r>
          </a:p>
        </c:rich>
      </c:tx>
      <c:layout/>
      <c:overlay val="0"/>
    </c:title>
    <c:autoTitleDeleted val="0"/>
    <c:plotArea>
      <c:layout/>
      <c:barChart>
        <c:barDir val="bar"/>
        <c:grouping val="clustered"/>
        <c:varyColors val="0"/>
        <c:ser>
          <c:idx val="0"/>
          <c:order val="0"/>
          <c:tx>
            <c:strRef>
              <c:f>Sheet1!$B$1</c:f>
              <c:strCache>
                <c:ptCount val="1"/>
                <c:pt idx="0">
                  <c:v>ΔF1</c:v>
                </c:pt>
              </c:strCache>
            </c:strRef>
          </c:tx>
          <c:spPr>
            <a:solidFill>
              <a:srgbClr val="0E6E7E"/>
            </a:solidFill>
            <a:effectLst/>
          </c:spPr>
          <c:invertIfNegative val="0"/>
          <c:dLbls>
            <c:numFmt formatCode="+0.000;-0.000;0.000" sourceLinked="0"/>
            <c:txPr>
              <a:bodyPr/>
              <a:lstStyle/>
              <a:p>
                <a:pPr>
                  <a:defRPr b="0" i="0" strike="noStrike" sz="1100" u="none">
                    <a:solidFill>
                      <a:srgbClr val="1B2631"/>
                    </a:solidFill>
                    <a:latin typeface="+mn-lt"/>
                  </a:defRPr>
                </a:pPr>
              </a:p>
            </c:txPr>
            <c:showLegendKey val="0"/>
            <c:showVal val="1"/>
            <c:showCatName val="0"/>
            <c:showSerName val="0"/>
            <c:showPercent val="0"/>
            <c:showBubbleSize val="0"/>
            <c:showLeaderLines val="0"/>
          </c:dLbls>
          <c:dPt>
            <c:idx val="0"/>
            <c:invertIfNegative val="0"/>
            <c:bubble3D val="0"/>
            <c:spPr>
              <a:solidFill>
                <a:srgbClr val="0E6E7E"/>
              </a:solidFill>
              <a:effectLst/>
            </c:spPr>
          </c:dPt>
          <c:dPt>
            <c:idx val="1"/>
            <c:invertIfNegative val="0"/>
            <c:bubble3D val="0"/>
            <c:spPr>
              <a:solidFill>
                <a:srgbClr val="C44536"/>
              </a:solidFill>
              <a:effectLst/>
            </c:spPr>
          </c:dPt>
          <c:dPt>
            <c:idx val="2"/>
            <c:invertIfNegative val="0"/>
            <c:bubble3D val="0"/>
            <c:spPr>
              <a:solidFill>
                <a:srgbClr val="0E6E7E"/>
              </a:solidFill>
              <a:effectLst/>
            </c:spPr>
          </c:dPt>
          <c:dPt>
            <c:idx val="3"/>
            <c:invertIfNegative val="0"/>
            <c:bubble3D val="0"/>
            <c:spPr>
              <a:solidFill>
                <a:srgbClr val="0E6E7E"/>
              </a:solidFill>
              <a:effectLst/>
            </c:spPr>
          </c:dPt>
          <c:dPt>
            <c:idx val="4"/>
            <c:invertIfNegative val="0"/>
            <c:bubble3D val="0"/>
            <c:spPr>
              <a:solidFill>
                <a:srgbClr val="0E6E7E"/>
              </a:solidFill>
              <a:effectLst/>
            </c:spPr>
          </c:dPt>
          <c:dPt>
            <c:idx val="5"/>
            <c:invertIfNegative val="0"/>
            <c:bubble3D val="0"/>
            <c:spPr>
              <a:solidFill>
                <a:srgbClr val="C44536"/>
              </a:solidFill>
              <a:effectLst/>
            </c:spPr>
          </c:dPt>
          <c:dPt>
            <c:idx val="6"/>
            <c:invertIfNegative val="0"/>
            <c:bubble3D val="0"/>
            <c:spPr>
              <a:solidFill>
                <a:srgbClr val="C44536"/>
              </a:solidFill>
              <a:effectLst/>
            </c:spPr>
          </c:dPt>
          <c:dPt>
            <c:idx val="7"/>
            <c:invertIfNegative val="0"/>
            <c:bubble3D val="0"/>
            <c:spPr>
              <a:solidFill>
                <a:srgbClr val="C44536"/>
              </a:solidFill>
              <a:effectLst/>
            </c:spPr>
          </c:dPt>
          <c:cat>
            <c:multiLvlStrRef>
              <c:f>Sheet1!$A$2:$A$9</c:f>
              <c:multiLvlStrCache>
                <c:ptCount val="8"/>
                <c:lvl>
                  <c:pt idx="0">
                    <c:v>Best other model family (3-booster average)</c:v>
                  </c:pt>
                  <c:pt idx="1">
                    <c:v>XGBoost / CatBoost instead of LightGBM</c:v>
                  </c:pt>
                  <c:pt idx="2">
                    <c:v>Normalized trace features added</c:v>
                  </c:pt>
                  <c:pt idx="3">
                    <c:v>ROICaT ROInet embedding (6-session pilot)</c:v>
                  </c:pt>
                  <c:pt idx="4">
                    <c:v>MiniRocket trace embedding added</c:v>
                  </c:pt>
                  <c:pt idx="5">
                    <c:v>MiniRocket instead of hand-made trace features</c:v>
                  </c:pt>
                  <c:pt idx="6">
                    <c:v>1D-CNN trace embedding added</c:v>
                  </c:pt>
                  <c:pt idx="7">
                    <c:v>1D-CNN trace embedding instead of hand-made</c:v>
                  </c:pt>
                </c:lvl>
              </c:multiLvlStrCache>
            </c:multiLvlStrRef>
          </c:cat>
          <c:val>
            <c:numRef>
              <c:f>Sheet1!$B$2:$B$9</c:f>
              <c:numCache>
                <c:formatCode>General</c:formatCode>
                <c:ptCount val="8"/>
                <c:pt idx="0">
                  <c:v>0.003</c:v>
                </c:pt>
                <c:pt idx="1">
                  <c:v>-0.001</c:v>
                </c:pt>
                <c:pt idx="2">
                  <c:v>0.001</c:v>
                </c:pt>
                <c:pt idx="3">
                  <c:v>0.001</c:v>
                </c:pt>
                <c:pt idx="4">
                  <c:v>0</c:v>
                </c:pt>
                <c:pt idx="5">
                  <c:v>-0.007</c:v>
                </c:pt>
                <c:pt idx="6">
                  <c:v>-0.01</c:v>
                </c:pt>
                <c:pt idx="7">
                  <c:v>-0.017</c:v>
                </c:pt>
              </c:numCache>
            </c:numRef>
          </c:val>
        </c:ser>
        <c:dLbls>
          <c:numFmt formatCode="+0.000;-0.000;0.000" sourceLinked="0"/>
          <c:txPr>
            <a:bodyPr/>
            <a:lstStyle/>
            <a:p>
              <a:pPr>
                <a:defRPr b="0" i="0" strike="noStrike" sz="1100" u="none">
                  <a:solidFill>
                    <a:srgbClr val="1B2631"/>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2631"/>
                </a:solidFill>
                <a:latin typeface="+mn-lt"/>
              </a:defRPr>
            </a:pPr>
            <a:endParaRPr lang="en-US"/>
          </a:p>
        </c:txPr>
        <c:crossAx val="2094734552"/>
        <c:crosses val="autoZero"/>
        <c:auto val="1"/>
        <c:lblAlgn val="ctr"/>
        <c:noMultiLvlLbl val="1"/>
      </c:catAx>
      <c:valAx>
        <c:axId val="2094734552"/>
        <c:scaling>
          <c:orientation val="minMax"/>
          <c:max val="0.01"/>
          <c:min val="-0.02"/>
        </c:scaling>
        <c:delete val="0"/>
        <c:axPos val="b"/>
        <c:majorGridlines>
          <c:spPr>
            <a:ln w="9525" cap="flat">
              <a:solidFill>
                <a:srgbClr val="DDE5E4"/>
              </a:solidFill>
              <a:prstDash val="solid"/>
              <a:round/>
            </a:ln>
          </c:spPr>
        </c:majorGridlines>
        <c:numFmt formatCode="+0.000;-0.000;0"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B88"/>
                </a:solidFill>
                <a:latin typeface="+mn-lt"/>
              </a:defRPr>
            </a:pPr>
            <a:endParaRPr lang="en-US"/>
          </a:p>
        </c:txPr>
        <c:crossAx val="2094734554"/>
        <c:crosses val="autoZero"/>
        <c:crossBetween val="between"/>
        <c:majorUnit val="0.005"/>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6B7B88"/>
                </a:solidFill>
                <a:latin typeface="+mn-lt"/>
              </a:defRPr>
            </a:pPr>
            <a:r>
              <a:rPr sz="1300" b="0" i="0" u="none" strike="noStrike">
                <a:solidFill>
                  <a:srgbClr val="6B7B88"/>
                </a:solidFill>
                <a:latin typeface="+mn-lt"/>
              </a:rPr>
              <a:t>F1 trained on own lab minus F1 trained on the other lab</a:t>
            </a:r>
          </a:p>
        </c:rich>
      </c:tx>
      <c:layout/>
      <c:overlay val="0"/>
    </c:title>
    <c:autoTitleDeleted val="0"/>
    <c:plotArea>
      <c:layout/>
      <c:barChart>
        <c:barDir val="bar"/>
        <c:grouping val="clustered"/>
        <c:varyColors val="0"/>
        <c:ser>
          <c:idx val="0"/>
          <c:order val="0"/>
          <c:tx>
            <c:strRef>
              <c:f>Sheet1!$B$1</c:f>
              <c:strCache>
                <c:ptCount val="1"/>
                <c:pt idx="0">
                  <c:v>Own-lab advantage</c:v>
                </c:pt>
              </c:strCache>
            </c:strRef>
          </c:tx>
          <c:spPr>
            <a:solidFill>
              <a:srgbClr val="12A37D"/>
            </a:solidFill>
            <a:effectLst/>
          </c:spPr>
          <c:invertIfNegative val="0"/>
          <c:dLbls>
            <c:numFmt formatCode="+0.000;-0.000;0.000" sourceLinked="0"/>
            <c:txPr>
              <a:bodyPr/>
              <a:lstStyle/>
              <a:p>
                <a:pPr>
                  <a:defRPr b="0" i="0" strike="noStrike" sz="1100" u="none">
                    <a:solidFill>
                      <a:srgbClr val="1B2631"/>
                    </a:solidFill>
                    <a:latin typeface="+mn-lt"/>
                  </a:defRPr>
                </a:pPr>
              </a:p>
            </c:txPr>
            <c:showLegendKey val="0"/>
            <c:showVal val="1"/>
            <c:showCatName val="0"/>
            <c:showSerName val="0"/>
            <c:showPercent val="0"/>
            <c:showBubbleSize val="0"/>
            <c:showLeaderLines val="0"/>
          </c:dLbls>
          <c:dPt>
            <c:idx val="0"/>
            <c:invertIfNegative val="0"/>
            <c:bubble3D val="0"/>
            <c:spPr>
              <a:solidFill>
                <a:srgbClr val="12A37D"/>
              </a:solidFill>
              <a:effectLst/>
            </c:spPr>
          </c:dPt>
          <c:dPt>
            <c:idx val="1"/>
            <c:invertIfNegative val="0"/>
            <c:bubble3D val="0"/>
            <c:spPr>
              <a:solidFill>
                <a:srgbClr val="12A37D"/>
              </a:solidFill>
              <a:effectLst/>
            </c:spPr>
          </c:dPt>
          <c:dPt>
            <c:idx val="2"/>
            <c:invertIfNegative val="0"/>
            <c:bubble3D val="0"/>
            <c:spPr>
              <a:solidFill>
                <a:srgbClr val="12A37D"/>
              </a:solidFill>
              <a:effectLst/>
            </c:spPr>
          </c:dPt>
          <c:dPt>
            <c:idx val="3"/>
            <c:invertIfNegative val="0"/>
            <c:bubble3D val="0"/>
            <c:spPr>
              <a:solidFill>
                <a:srgbClr val="12A37D"/>
              </a:solidFill>
              <a:effectLst/>
            </c:spPr>
          </c:dPt>
          <c:dPt>
            <c:idx val="4"/>
            <c:invertIfNegative val="0"/>
            <c:bubble3D val="0"/>
            <c:spPr>
              <a:solidFill>
                <a:srgbClr val="12A37D"/>
              </a:solidFill>
              <a:effectLst/>
            </c:spPr>
          </c:dPt>
          <c:dPt>
            <c:idx val="5"/>
            <c:invertIfNegative val="0"/>
            <c:bubble3D val="0"/>
            <c:spPr>
              <a:solidFill>
                <a:srgbClr val="C44536"/>
              </a:solidFill>
              <a:effectLst/>
            </c:spPr>
          </c:dPt>
          <c:dPt>
            <c:idx val="6"/>
            <c:invertIfNegative val="0"/>
            <c:bubble3D val="0"/>
            <c:spPr>
              <a:solidFill>
                <a:srgbClr val="12A37D"/>
              </a:solidFill>
              <a:effectLst/>
            </c:spPr>
          </c:dPt>
          <c:dPt>
            <c:idx val="7"/>
            <c:invertIfNegative val="0"/>
            <c:bubble3D val="0"/>
            <c:spPr>
              <a:solidFill>
                <a:srgbClr val="C44536"/>
              </a:solidFill>
              <a:effectLst/>
            </c:spPr>
          </c:dPt>
          <c:cat>
            <c:multiLvlStrRef>
              <c:f>Sheet1!$A$2:$A$9</c:f>
              <c:multiLvlStrCache>
                <c:ptCount val="8"/>
                <c:lvl>
                  <c:pt idx="0">
                    <c:v>Stav: 4 hardest</c:v>
                  </c:pt>
                  <c:pt idx="1">
                    <c:v>Stav: random draw 1</c:v>
                  </c:pt>
                  <c:pt idx="2">
                    <c:v>Stav: random draw 2</c:v>
                  </c:pt>
                  <c:pt idx="3">
                    <c:v>Stav: random draw 3</c:v>
                  </c:pt>
                  <c:pt idx="4">
                    <c:v>Inbar: 4 hardest</c:v>
                  </c:pt>
                  <c:pt idx="5">
                    <c:v>Inbar: random draw 1</c:v>
                  </c:pt>
                  <c:pt idx="6">
                    <c:v>Inbar: random draw 2</c:v>
                  </c:pt>
                  <c:pt idx="7">
                    <c:v>Inbar: random draw 3</c:v>
                  </c:pt>
                </c:lvl>
              </c:multiLvlStrCache>
            </c:multiLvlStrRef>
          </c:cat>
          <c:val>
            <c:numRef>
              <c:f>Sheet1!$B$2:$B$9</c:f>
              <c:numCache>
                <c:formatCode>General</c:formatCode>
                <c:ptCount val="8"/>
                <c:pt idx="0">
                  <c:v>0.025</c:v>
                </c:pt>
                <c:pt idx="1">
                  <c:v>0.014</c:v>
                </c:pt>
                <c:pt idx="2">
                  <c:v>0.031</c:v>
                </c:pt>
                <c:pt idx="3">
                  <c:v>0.022</c:v>
                </c:pt>
                <c:pt idx="4">
                  <c:v>0.041</c:v>
                </c:pt>
                <c:pt idx="5">
                  <c:v>-0.011</c:v>
                </c:pt>
                <c:pt idx="6">
                  <c:v>0.001</c:v>
                </c:pt>
                <c:pt idx="7">
                  <c:v>-0.009</c:v>
                </c:pt>
              </c:numCache>
            </c:numRef>
          </c:val>
        </c:ser>
        <c:dLbls>
          <c:numFmt formatCode="+0.000;-0.000;0.000" sourceLinked="0"/>
          <c:txPr>
            <a:bodyPr/>
            <a:lstStyle/>
            <a:p>
              <a:pPr>
                <a:defRPr b="0" i="0" strike="noStrike" sz="1100" u="none">
                  <a:solidFill>
                    <a:srgbClr val="1B2631"/>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631"/>
                </a:solidFill>
                <a:latin typeface="+mn-lt"/>
              </a:defRPr>
            </a:pPr>
            <a:endParaRPr lang="en-US"/>
          </a:p>
        </c:txPr>
        <c:crossAx val="2094734552"/>
        <c:crosses val="autoZero"/>
        <c:auto val="1"/>
        <c:lblAlgn val="ctr"/>
        <c:noMultiLvlLbl val="1"/>
      </c:catAx>
      <c:valAx>
        <c:axId val="2094734552"/>
        <c:scaling>
          <c:orientation val="minMax"/>
          <c:max val="0.05"/>
          <c:min val="-0.02"/>
        </c:scaling>
        <c:delete val="0"/>
        <c:axPos val="b"/>
        <c:majorGridlines>
          <c:spPr>
            <a:ln w="9525" cap="flat">
              <a:solidFill>
                <a:srgbClr val="DDE5E4"/>
              </a:solidFill>
              <a:prstDash val="solid"/>
              <a:round/>
            </a:ln>
          </c:spPr>
        </c:majorGridlines>
        <c:numFmt formatCode="+0.00;-0.00;0"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B88"/>
                </a:solidFill>
                <a:latin typeface="+mn-lt"/>
              </a:defRPr>
            </a:pPr>
            <a:endParaRPr lang="en-US"/>
          </a:p>
        </c:txPr>
        <c:crossAx val="2094734554"/>
        <c:crosses val="autoZero"/>
        <c:crossBetween val="between"/>
        <c:majorUnit val="0.01"/>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F1 at the trained threshold</c:v>
                </c:pt>
              </c:strCache>
            </c:strRef>
          </c:tx>
          <c:spPr>
            <a:solidFill>
              <a:srgbClr val="6B7B88"/>
            </a:solidFill>
            <a:effectLst/>
          </c:spPr>
          <c:invertIfNegative val="0"/>
          <c:dLbls>
            <c:numFmt formatCode="0.00" sourceLinked="0"/>
            <c:txPr>
              <a:bodyPr/>
              <a:lstStyle/>
              <a:p>
                <a:pPr>
                  <a:defRPr b="0" i="0" strike="noStrike" sz="1100" u="none">
                    <a:solidFill>
                      <a:srgbClr val="1B2631"/>
                    </a:solidFill>
                    <a:latin typeface="+mn-lt"/>
                  </a:defRPr>
                </a:pPr>
              </a:p>
            </c:txPr>
            <c:showLegendKey val="0"/>
            <c:showVal val="1"/>
            <c:showCatName val="0"/>
            <c:showSerName val="0"/>
            <c:showPercent val="0"/>
            <c:showBubbleSize val="0"/>
            <c:showLeaderLines val="0"/>
          </c:dLbls>
          <c:cat>
            <c:multiLvlStrRef>
              <c:f>Sheet1!$A$2:$A$6</c:f>
              <c:multiLvlStrCache>
                <c:ptCount val="5"/>
                <c:lvl>
                  <c:pt idx="0">
                    <c:v>Inbar3</c:v>
                  </c:pt>
                  <c:pt idx="1">
                    <c:v>inbar1</c:v>
                  </c:pt>
                  <c:pt idx="2">
                    <c:v>Stav14</c:v>
                  </c:pt>
                  <c:pt idx="3">
                    <c:v>Inbar12</c:v>
                  </c:pt>
                  <c:pt idx="4">
                    <c:v>Inbar9</c:v>
                  </c:pt>
                </c:lvl>
              </c:multiLvlStrCache>
            </c:multiLvlStrRef>
          </c:cat>
          <c:val>
            <c:numRef>
              <c:f>Sheet1!$B$2:$B$6</c:f>
              <c:numCache>
                <c:formatCode>General</c:formatCode>
                <c:ptCount val="5"/>
                <c:pt idx="0">
                  <c:v>0.748</c:v>
                </c:pt>
                <c:pt idx="1">
                  <c:v>0.771</c:v>
                </c:pt>
                <c:pt idx="2">
                  <c:v>0.774</c:v>
                </c:pt>
                <c:pt idx="3">
                  <c:v>0.806</c:v>
                </c:pt>
                <c:pt idx="4">
                  <c:v>0.799</c:v>
                </c:pt>
              </c:numCache>
            </c:numRef>
          </c:val>
        </c:ser>
        <c:ser>
          <c:idx val="1"/>
          <c:order val="1"/>
          <c:tx>
            <c:strRef>
              <c:f>Sheet1!$C$1</c:f>
              <c:strCache>
                <c:ptCount val="1"/>
                <c:pt idx="0">
                  <c:v>F1 at the session's own best threshold</c:v>
                </c:pt>
              </c:strCache>
            </c:strRef>
          </c:tx>
          <c:spPr>
            <a:solidFill>
              <a:srgbClr val="E39B2F"/>
            </a:solidFill>
            <a:effectLst/>
          </c:spPr>
          <c:invertIfNegative val="0"/>
          <c:dLbls>
            <c:numFmt formatCode="0.00" sourceLinked="0"/>
            <c:txPr>
              <a:bodyPr/>
              <a:lstStyle/>
              <a:p>
                <a:pPr>
                  <a:defRPr b="0" i="0" strike="noStrike" sz="1100" u="none">
                    <a:solidFill>
                      <a:srgbClr val="1B2631"/>
                    </a:solidFill>
                    <a:latin typeface="+mn-lt"/>
                  </a:defRPr>
                </a:pPr>
              </a:p>
            </c:txPr>
            <c:showLegendKey val="0"/>
            <c:showVal val="1"/>
            <c:showCatName val="0"/>
            <c:showSerName val="0"/>
            <c:showPercent val="0"/>
            <c:showBubbleSize val="0"/>
            <c:showLeaderLines val="0"/>
          </c:dLbls>
          <c:cat>
            <c:multiLvlStrRef>
              <c:f>Sheet1!$A$2:$A$6</c:f>
              <c:multiLvlStrCache>
                <c:ptCount val="5"/>
                <c:lvl>
                  <c:pt idx="0">
                    <c:v>Inbar3</c:v>
                  </c:pt>
                  <c:pt idx="1">
                    <c:v>inbar1</c:v>
                  </c:pt>
                  <c:pt idx="2">
                    <c:v>Stav14</c:v>
                  </c:pt>
                  <c:pt idx="3">
                    <c:v>Inbar12</c:v>
                  </c:pt>
                  <c:pt idx="4">
                    <c:v>Inbar9</c:v>
                  </c:pt>
                </c:lvl>
              </c:multiLvlStrCache>
            </c:multiLvlStrRef>
          </c:cat>
          <c:val>
            <c:numRef>
              <c:f>Sheet1!$C$2:$C$6</c:f>
              <c:numCache>
                <c:formatCode>General</c:formatCode>
                <c:ptCount val="5"/>
                <c:pt idx="0">
                  <c:v>0.868</c:v>
                </c:pt>
                <c:pt idx="1">
                  <c:v>0.88</c:v>
                </c:pt>
                <c:pt idx="2">
                  <c:v>0.819</c:v>
                </c:pt>
                <c:pt idx="3">
                  <c:v>0.819</c:v>
                </c:pt>
                <c:pt idx="4">
                  <c:v>0.814</c:v>
                </c:pt>
              </c:numCache>
            </c:numRef>
          </c:val>
        </c:ser>
        <c:dLbls>
          <c:numFmt formatCode="0.00" sourceLinked="0"/>
          <c:txPr>
            <a:bodyPr/>
            <a:lstStyle/>
            <a:p>
              <a:pPr>
                <a:defRPr b="0" i="0" strike="noStrike" sz="1100" u="none">
                  <a:solidFill>
                    <a:srgbClr val="1B2631"/>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631"/>
                </a:solidFill>
                <a:latin typeface="+mn-lt"/>
              </a:defRPr>
            </a:pPr>
            <a:endParaRPr lang="en-US"/>
          </a:p>
        </c:txPr>
        <c:crossAx val="2094734552"/>
        <c:crosses val="autoZero"/>
        <c:auto val="1"/>
        <c:lblAlgn val="ctr"/>
        <c:noMultiLvlLbl val="1"/>
      </c:catAx>
      <c:valAx>
        <c:axId val="2094734552"/>
        <c:scaling>
          <c:orientation val="minMax"/>
          <c:max val="0.95"/>
          <c:min val="0.6"/>
        </c:scaling>
        <c:delete val="0"/>
        <c:axPos val="l"/>
        <c:majorGridlines>
          <c:spPr>
            <a:ln w="9525" cap="flat">
              <a:solidFill>
                <a:srgbClr val="DDE5E4"/>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B88"/>
                </a:solidFill>
                <a:latin typeface="+mn-lt"/>
              </a:defRPr>
            </a:pPr>
            <a:endParaRPr lang="en-US"/>
          </a:p>
        </c:txPr>
        <c:crossAx val="2094734554"/>
        <c:crosses val="autoZero"/>
        <c:crossBetween val="between"/>
        <c:majorUnit val="0.05"/>
      </c:valAx>
      <c:spPr>
        <a:noFill/>
        <a:ln>
          <a:noFill/>
        </a:ln>
        <a:effectLst/>
      </c:spPr>
    </c:plotArea>
    <c:legend>
      <c:legendPos val="t"/>
      <c:overlay val="0"/>
      <c:txPr>
        <a:bodyPr/>
        <a:lstStyle/>
        <a:p>
          <a:pPr>
            <a:defRPr sz="1200">
              <a:solidFill>
                <a:srgbClr val="1B2631"/>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of the work on branch feat/image-features: fixing the evaluation, adding image features from ops.npy, testing CNNs and learned embeddings, a model-family comparison, and a hold-out experiment on labelling style.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numbers are F1 on sessions the model never saw (GroupKFold by session). 0.827 and 0.853 are means over 15 folds (5 folds x 3 repeats); 0.861 is on the 5 repeat-0 folds, where the image-feature model scores 0.853 as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Stav1 was detected because its image features made no sense: a label-free alignment check between ops.npy and stat.npy scores 0.05 for Stav1 and 0.27 or more for every other session. Its traces, ROIs and labels turned out to be byte-identical to Stav5.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 baseline is what every later gain is measured against. ΔF1 values in later slides are paired per fold, which removes most of the fold-to-fold variance between sessions.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max_proj and Vcorr are cropped by Suite2p to yrange/xrange; they are placed back at that offset rather than resized. Vcorr is the local correlation map, so it carries activity information even though it is an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Paired ΔF1 vs baseline: trace-norm +0.001 (8/15 folds up), replace −0.001 (7/15), ring contrast +0.015 (14/15), lam correlation +0.023 (15/15), all image features +0.026 ± 0.008 (15/15).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Per-session F1 is the mean over the 3 CV repeats. Only 2 of 29 sessions drop, by less than 0.005 (Stav16, Stav20).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SHAP from the model with normalized trace features plus image features, averaged over held-out folds.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CNN input: 32x32 crops of meanImg, max_proj, Vcorr plus the lam mask. CNN scores are nested out-of-fold; embeddings come from one network per outer fold trained on the training sessions only. CPU only, no GPU.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ROICaT result is from a 6-session leave-one-session-out pilot; it was stopped there. Logistic regression and an MLP on the 44 features scored 0.829 and 0.846, below the tree boosters.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bar is one hold-out experiment: 4 sessions of one lab are held out, and two models are trained, one on the remaining sessions of that lab and one on the other lab only. Same 44 features, same LightGBM settings; the threshold is chosen by cross-validation on the training sessions only. Positive = the model trained on the same lab's labels did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Stav pool: 17 sessions (13 when 4 are held out). Inbar pool: 12 sessions (8 when 4 are held out). Scripts: scripts/holdout_eval.py; results in results/labeller_experiments.md.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Bold = the better of the two training pools for that held-out set. Own-lab advantage = F1(trained on the same lab) minus F1(trained on the other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Hold-out experiment: train on Stav only, Inbar only, or both, and test on Inbar3, Inbar12, inbar1 and Inbar9, with the threshold picked by inner CV on the training sessions. Mirror check on Stav14. Inbar12 and Inbar9 are well calibrated; Inbar3, inbar1 and Stav14 rank well but their labellers drew the line more or less strictly than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Tested on copies of Inbar2 and Stav11 (end to end) and Stav1 (fallback), with the original iscell files checksummed before and after. Found along the way: the regular model computes some features differently at training and inference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results and this deck are on the branch feat/image-features in AddadyTom/suite2p-classification (results/REPORT.md and results/*.md for the full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11094415" cy="1737360"/>
          </a:xfrm>
          <a:prstGeom prst="rect">
            <a:avLst/>
          </a:prstGeom>
          <a:noFill/>
          <a:ln/>
        </p:spPr>
        <p:txBody>
          <a:bodyPr wrap="square" rtlCol="0"/>
          <a:lstStyle>
            <a:lvl1pPr indent="0" marL="0">
              <a:buNone/>
              <a:defRPr lang="en-US" sz="4400" b="1" dirty="0">
                <a:solidFill>
                  <a:schemeClr val="bg1"/>
                </a:solidFill>
                <a:latin typeface="Cambria" pitchFamily="34" charset="0"/>
                <a:ea typeface="Cambria" pitchFamily="34" charset="-122"/>
                <a:cs typeface="Cambria" pitchFamily="34" charset="-120"/>
              </a:defRPr>
            </a:lvl1pPr>
          </a:lstStyle>
          <a:p>
            <a:pPr indent="0" marL="0">
              <a:buNone/>
            </a:pPr>
            <a:r>
              <a:rPr lang="en-US" sz="4400" b="1" dirty="0">
                <a:solidFill>
                  <a:schemeClr val="bg1"/>
                </a:solidFill>
                <a:latin typeface="Cambria" pitchFamily="34" charset="0"/>
                <a:ea typeface="Cambria" pitchFamily="34" charset="-122"/>
                <a:cs typeface="Cambria" pitchFamily="34" charset="-120"/>
              </a:rPr>
              <a:t>Title</a:t>
            </a:r>
            <a:endParaRPr lang="en-US" sz="4400" dirty="0"/>
          </a:p>
        </p:txBody>
      </p:sp>
      <p:sp>
        <p:nvSpPr>
          <p:cNvPr id="3" name="Text 0"/>
          <p:cNvSpPr/>
          <p:nvPr>
            <p:ph idx="101" type="body" hasCustomPrompt="1"/>
          </p:nvPr>
        </p:nvSpPr>
        <p:spPr>
          <a:xfrm>
            <a:off x="548640" y="3794760"/>
            <a:ext cx="11094415" cy="1280160"/>
          </a:xfrm>
          <a:prstGeom prst="rect">
            <a:avLst/>
          </a:prstGeom>
          <a:noFill/>
          <a:ln/>
        </p:spPr>
        <p:txBody>
          <a:bodyPr wrap="square" rtlCol="0"/>
          <a:lstStyle>
            <a:lvl1pPr indent="0" marL="0">
              <a:buNone/>
              <a:defRPr lang="en-US" sz="2000" dirty="0">
                <a:solidFill>
                  <a:schemeClr val="accent6"/>
                </a:solidFill>
                <a:latin typeface="Calibri" pitchFamily="34" charset="0"/>
                <a:ea typeface="Calibri" pitchFamily="34" charset="-122"/>
                <a:cs typeface="Calibri" pitchFamily="34" charset="-120"/>
              </a:defRPr>
            </a:lvl1pPr>
          </a:lstStyle>
          <a:p>
            <a:pPr indent="0" marL="0">
              <a:buNone/>
            </a:pPr>
            <a:r>
              <a:rPr lang="en-US" sz="2000" dirty="0">
                <a:solidFill>
                  <a:schemeClr val="accent6"/>
                </a:solidFill>
                <a:latin typeface="Calibri" pitchFamily="34" charset="0"/>
                <a:ea typeface="Calibri" pitchFamily="34" charset="-122"/>
                <a:cs typeface="Calibri" pitchFamily="34" charset="-120"/>
              </a:rPr>
              <a:t>Subtitle</a:t>
            </a: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indent="0" marL="0">
              <a:buNone/>
              <a:defRPr lang="en-US" sz="3000" b="1" dirty="0">
                <a:solidFill>
                  <a:schemeClr val="tx2"/>
                </a:solidFill>
                <a:latin typeface="Cambria" pitchFamily="34" charset="0"/>
                <a:ea typeface="Cambria" pitchFamily="34" charset="-122"/>
                <a:cs typeface="Cambria" pitchFamily="34" charset="-120"/>
              </a:defRPr>
            </a:lvl1pPr>
          </a:lstStyle>
          <a:p>
            <a:pPr indent="0" marL="0">
              <a:buNone/>
            </a:pPr>
            <a:r>
              <a:rPr lang="en-US" sz="3000" b="1" dirty="0">
                <a:solidFill>
                  <a:schemeClr val="tx2"/>
                </a:solidFill>
                <a:latin typeface="Cambria" pitchFamily="34" charset="0"/>
                <a:ea typeface="Cambria" pitchFamily="34" charset="-122"/>
                <a:cs typeface="Cambria" pitchFamily="34" charset="-120"/>
              </a:rPr>
              <a:t>Title</a:t>
            </a:r>
            <a:endParaRPr lang="en-US" sz="3000" dirty="0"/>
          </a:p>
        </p:txBody>
      </p:sp>
      <p:sp>
        <p:nvSpPr>
          <p:cNvPr id="3" name="Text 0"/>
          <p:cNvSpPr/>
          <p:nvPr/>
        </p:nvSpPr>
        <p:spPr>
          <a:xfrm>
            <a:off x="548640" y="6400800"/>
            <a:ext cx="9144000" cy="274320"/>
          </a:xfrm>
          <a:prstGeom prst="rect">
            <a:avLst/>
          </a:prstGeom>
          <a:noFill/>
          <a:ln/>
        </p:spPr>
        <p:txBody>
          <a:bodyPr wrap="square" lIns="0" tIns="0" rIns="0" bIns="0" rtlCol="0" anchor="ctr"/>
          <a:lstStyle/>
          <a:p>
            <a:pPr indent="0" marL="0">
              <a:buNone/>
            </a:pPr>
            <a:r>
              <a:rPr lang="en-US" sz="1000" dirty="0">
                <a:solidFill>
                  <a:schemeClr val="accent4"/>
                </a:solidFill>
              </a:rPr>
              <a:t>Suite2p ROI classification  ·  branch feat/image-features  ·  F1 on held-out sessions</a:t>
            </a:r>
            <a:endParaRPr lang="en-US" sz="10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rtlCol="0"/>
          <a:lstStyle>
            <a:lvl1pPr indent="0" marL="0">
              <a:buNone/>
              <a:defRPr lang="en-US" sz="3200" b="1" dirty="0">
                <a:solidFill>
                  <a:schemeClr val="bg1"/>
                </a:solidFill>
                <a:latin typeface="Cambria" pitchFamily="34" charset="0"/>
                <a:ea typeface="Cambria" pitchFamily="34" charset="-122"/>
                <a:cs typeface="Cambria" pitchFamily="34" charset="-120"/>
              </a:defRPr>
            </a:lvl1pPr>
          </a:lstStyle>
          <a:p>
            <a:pPr indent="0" marL="0">
              <a:buNone/>
            </a:pPr>
            <a:r>
              <a:rPr lang="en-US" sz="3200" b="1" dirty="0">
                <a:solidFill>
                  <a:schemeClr val="bg1"/>
                </a:solidFill>
                <a:latin typeface="Cambria" pitchFamily="34" charset="0"/>
                <a:ea typeface="Cambria" pitchFamily="34" charset="-122"/>
                <a:cs typeface="Cambria" pitchFamily="34" charset="-120"/>
              </a:rPr>
              <a:t>Title</a:t>
            </a:r>
            <a:endParaRPr lang="en-US" sz="32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11094415" cy="1737360"/>
          </a:xfrm>
          <a:prstGeom prst="rect">
            <a:avLst/>
          </a:prstGeom>
          <a:noFill/>
          <a:ln/>
        </p:spPr>
        <p:txBody>
          <a:bodyPr wrap="square" lIns="0" tIns="0" rIns="0" bIns="0" rtlCol="0" anchor="b"/>
          <a:lstStyle/>
          <a:p>
            <a:pPr indent="0" marL="0">
              <a:buNone/>
            </a:pPr>
            <a:r>
              <a:rPr lang="en-US" sz="4400" b="1" dirty="0">
                <a:solidFill>
                  <a:schemeClr val="bg1"/>
                </a:solidFill>
                <a:latin typeface="Cambria" pitchFamily="34" charset="0"/>
                <a:ea typeface="Cambria" pitchFamily="34" charset="-122"/>
                <a:cs typeface="Cambria" pitchFamily="34" charset="-120"/>
              </a:rPr>
              <a:t>Better Suite2p cell classification with image features</a:t>
            </a:r>
            <a:endParaRPr lang="en-US" sz="4400" dirty="0"/>
          </a:p>
        </p:txBody>
      </p:sp>
      <p:sp>
        <p:nvSpPr>
          <p:cNvPr id="3" name="Text 0"/>
          <p:cNvSpPr/>
          <p:nvPr>
            <p:ph idx="101" type="body" hasCustomPrompt="1"/>
          </p:nvPr>
        </p:nvSpPr>
        <p:spPr>
          <a:xfrm>
            <a:off x="548640" y="3794760"/>
            <a:ext cx="11094415" cy="1280160"/>
          </a:xfrm>
          <a:prstGeom prst="rect">
            <a:avLst/>
          </a:prstGeom>
          <a:noFill/>
          <a:ln/>
        </p:spPr>
        <p:txBody>
          <a:bodyPr wrap="square" lIns="0" tIns="0" rIns="0" bIns="0" rtlCol="0" anchor="t"/>
          <a:lstStyle/>
          <a:p>
            <a:pPr indent="0" marL="0">
              <a:buNone/>
            </a:pPr>
            <a:r>
              <a:rPr lang="en-US" sz="2000" dirty="0">
                <a:solidFill>
                  <a:schemeClr val="accent6"/>
                </a:solidFill>
                <a:latin typeface="Calibri" pitchFamily="34" charset="0"/>
                <a:ea typeface="Calibri" pitchFamily="34" charset="-122"/>
                <a:cs typeface="Calibri" pitchFamily="34" charset="-120"/>
              </a:rPr>
              <a:t>Honest evaluation, new features, neural networks, and what the labels tell us  ·  October 2026</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Image features lift F1 from 0.827 to 0.853</a:t>
            </a:r>
            <a:endParaRPr lang="en-US" sz="3000" dirty="0"/>
          </a:p>
        </p:txBody>
      </p:sp>
      <p:sp>
        <p:nvSpPr>
          <p:cNvPr id="3" name="stat card 1"/>
          <p:cNvSpPr/>
          <p:nvPr/>
        </p:nvSpPr>
        <p:spPr>
          <a:xfrm>
            <a:off x="548640" y="1417320"/>
            <a:ext cx="3520440" cy="2377440"/>
          </a:xfrm>
          <a:prstGeom prst="roundRect">
            <a:avLst>
              <a:gd name="adj" fmla="val 4615"/>
            </a:avLst>
          </a:prstGeom>
          <a:solidFill>
            <a:schemeClr val="bg2"/>
          </a:solidFill>
          <a:ln/>
        </p:spPr>
      </p:sp>
      <p:sp>
        <p:nvSpPr>
          <p:cNvPr id="4" name="stat 1 number"/>
          <p:cNvSpPr txBox="1"/>
          <p:nvPr/>
        </p:nvSpPr>
        <p:spPr>
          <a:xfrm>
            <a:off x="822960" y="1600200"/>
            <a:ext cx="2971800" cy="1005840"/>
          </a:xfrm>
          <a:prstGeom prst="rect">
            <a:avLst/>
          </a:prstGeom>
          <a:noFill/>
          <a:ln/>
        </p:spPr>
        <p:txBody>
          <a:bodyPr wrap="square" lIns="0" tIns="0" rIns="0" bIns="0" rtlCol="0" anchor="ctr"/>
          <a:lstStyle/>
          <a:p>
            <a:pPr indent="0" marL="0">
              <a:buNone/>
            </a:pPr>
            <a:r>
              <a:rPr lang="en-US" sz="6000" b="1" dirty="0">
                <a:solidFill>
                  <a:schemeClr val="accent4"/>
                </a:solidFill>
                <a:latin typeface="Cambria" pitchFamily="34" charset="0"/>
                <a:ea typeface="Cambria" pitchFamily="34" charset="-122"/>
                <a:cs typeface="Cambria" pitchFamily="34" charset="-120"/>
              </a:rPr>
              <a:t>0.827</a:t>
            </a:r>
            <a:endParaRPr lang="en-US" sz="6000" dirty="0"/>
          </a:p>
        </p:txBody>
      </p:sp>
      <p:sp>
        <p:nvSpPr>
          <p:cNvPr id="5" name="stat 1 text"/>
          <p:cNvSpPr txBox="1"/>
          <p:nvPr/>
        </p:nvSpPr>
        <p:spPr>
          <a:xfrm>
            <a:off x="822960" y="2651760"/>
            <a:ext cx="2971800" cy="1005840"/>
          </a:xfrm>
          <a:prstGeom prst="rect">
            <a:avLst/>
          </a:prstGeom>
          <a:noFill/>
          <a:ln/>
        </p:spPr>
        <p:txBody>
          <a:bodyPr wrap="square" lIns="0" tIns="0" rIns="0" bIns="0" rtlCol="0" anchor="t"/>
          <a:lstStyle/>
          <a:p>
            <a:pPr indent="0" marL="0">
              <a:buNone/>
            </a:pPr>
            <a:r>
              <a:rPr lang="en-US" sz="1800" b="1" dirty="0">
                <a:solidFill>
                  <a:schemeClr val="tx1"/>
                </a:solidFill>
              </a:rPr>
              <a:t>Previous 27-feature model</a:t>
            </a:r>
            <a:endParaRPr lang="en-US" sz="1800" dirty="0"/>
          </a:p>
          <a:p>
            <a:pPr indent="0" marL="0">
              <a:buNone/>
            </a:pPr>
            <a:r>
              <a:rPr lang="en-US" sz="1400" dirty="0">
                <a:solidFill>
                  <a:schemeClr val="accent4"/>
                </a:solidFill>
              </a:rPr>
              <a:t>honest F1, threshold tuned on training sessions only</a:t>
            </a:r>
            <a:endParaRPr lang="en-US" sz="1800" dirty="0"/>
          </a:p>
        </p:txBody>
      </p:sp>
      <p:sp>
        <p:nvSpPr>
          <p:cNvPr id="6" name="stat card 2"/>
          <p:cNvSpPr/>
          <p:nvPr/>
        </p:nvSpPr>
        <p:spPr>
          <a:xfrm>
            <a:off x="4343400" y="1417320"/>
            <a:ext cx="3520440" cy="2377440"/>
          </a:xfrm>
          <a:prstGeom prst="roundRect">
            <a:avLst>
              <a:gd name="adj" fmla="val 4615"/>
            </a:avLst>
          </a:prstGeom>
          <a:solidFill>
            <a:schemeClr val="bg2"/>
          </a:solidFill>
          <a:ln/>
        </p:spPr>
      </p:sp>
      <p:sp>
        <p:nvSpPr>
          <p:cNvPr id="7" name="stat 2 number"/>
          <p:cNvSpPr txBox="1"/>
          <p:nvPr/>
        </p:nvSpPr>
        <p:spPr>
          <a:xfrm>
            <a:off x="4617720" y="1600200"/>
            <a:ext cx="2971800" cy="1005840"/>
          </a:xfrm>
          <a:prstGeom prst="rect">
            <a:avLst/>
          </a:prstGeom>
          <a:noFill/>
          <a:ln/>
        </p:spPr>
        <p:txBody>
          <a:bodyPr wrap="square" lIns="0" tIns="0" rIns="0" bIns="0" rtlCol="0" anchor="ctr"/>
          <a:lstStyle/>
          <a:p>
            <a:pPr indent="0" marL="0">
              <a:buNone/>
            </a:pPr>
            <a:r>
              <a:rPr lang="en-US" sz="6000" b="1" dirty="0">
                <a:solidFill>
                  <a:schemeClr val="accent1"/>
                </a:solidFill>
                <a:latin typeface="Cambria" pitchFamily="34" charset="0"/>
                <a:ea typeface="Cambria" pitchFamily="34" charset="-122"/>
                <a:cs typeface="Cambria" pitchFamily="34" charset="-120"/>
              </a:rPr>
              <a:t>0.853</a:t>
            </a:r>
            <a:endParaRPr lang="en-US" sz="6000" dirty="0"/>
          </a:p>
        </p:txBody>
      </p:sp>
      <p:sp>
        <p:nvSpPr>
          <p:cNvPr id="8" name="stat 2 text"/>
          <p:cNvSpPr txBox="1"/>
          <p:nvPr/>
        </p:nvSpPr>
        <p:spPr>
          <a:xfrm>
            <a:off x="4617720" y="2651760"/>
            <a:ext cx="2971800" cy="1005840"/>
          </a:xfrm>
          <a:prstGeom prst="rect">
            <a:avLst/>
          </a:prstGeom>
          <a:noFill/>
          <a:ln/>
        </p:spPr>
        <p:txBody>
          <a:bodyPr wrap="square" lIns="0" tIns="0" rIns="0" bIns="0" rtlCol="0" anchor="t"/>
          <a:lstStyle/>
          <a:p>
            <a:pPr indent="0" marL="0">
              <a:buNone/>
            </a:pPr>
            <a:r>
              <a:rPr lang="en-US" sz="1800" b="1" dirty="0">
                <a:solidFill>
                  <a:schemeClr val="tx1"/>
                </a:solidFill>
              </a:rPr>
              <a:t>+ 17 image features</a:t>
            </a:r>
            <a:endParaRPr lang="en-US" sz="1800" dirty="0"/>
          </a:p>
          <a:p>
            <a:pPr indent="0" marL="0">
              <a:buNone/>
            </a:pPr>
            <a:r>
              <a:rPr lang="en-US" sz="1400" dirty="0">
                <a:solidFill>
                  <a:schemeClr val="accent4"/>
                </a:solidFill>
              </a:rPr>
              <a:t>ready as the 'image' preset in apply_AI.py</a:t>
            </a:r>
            <a:endParaRPr lang="en-US" sz="1800" dirty="0"/>
          </a:p>
        </p:txBody>
      </p:sp>
      <p:sp>
        <p:nvSpPr>
          <p:cNvPr id="9" name="stat card 3"/>
          <p:cNvSpPr/>
          <p:nvPr/>
        </p:nvSpPr>
        <p:spPr>
          <a:xfrm>
            <a:off x="8138160" y="1417320"/>
            <a:ext cx="3520440" cy="2377440"/>
          </a:xfrm>
          <a:prstGeom prst="roundRect">
            <a:avLst>
              <a:gd name="adj" fmla="val 4615"/>
            </a:avLst>
          </a:prstGeom>
          <a:solidFill>
            <a:schemeClr val="bg2"/>
          </a:solidFill>
          <a:ln/>
        </p:spPr>
      </p:sp>
      <p:sp>
        <p:nvSpPr>
          <p:cNvPr id="10" name="stat 3 number"/>
          <p:cNvSpPr txBox="1"/>
          <p:nvPr/>
        </p:nvSpPr>
        <p:spPr>
          <a:xfrm>
            <a:off x="8412480" y="1600200"/>
            <a:ext cx="2971800" cy="1005840"/>
          </a:xfrm>
          <a:prstGeom prst="rect">
            <a:avLst/>
          </a:prstGeom>
          <a:noFill/>
          <a:ln/>
        </p:spPr>
        <p:txBody>
          <a:bodyPr wrap="square" lIns="0" tIns="0" rIns="0" bIns="0" rtlCol="0" anchor="ctr"/>
          <a:lstStyle/>
          <a:p>
            <a:pPr indent="0" marL="0">
              <a:buNone/>
            </a:pPr>
            <a:r>
              <a:rPr lang="en-US" sz="6000" b="1" dirty="0">
                <a:solidFill>
                  <a:schemeClr val="accent2"/>
                </a:solidFill>
                <a:latin typeface="Cambria" pitchFamily="34" charset="0"/>
                <a:ea typeface="Cambria" pitchFamily="34" charset="-122"/>
                <a:cs typeface="Cambria" pitchFamily="34" charset="-120"/>
              </a:rPr>
              <a:t>0.861</a:t>
            </a:r>
            <a:endParaRPr lang="en-US" sz="6000" dirty="0"/>
          </a:p>
        </p:txBody>
      </p:sp>
      <p:sp>
        <p:nvSpPr>
          <p:cNvPr id="11" name="stat 3 text"/>
          <p:cNvSpPr txBox="1"/>
          <p:nvPr/>
        </p:nvSpPr>
        <p:spPr>
          <a:xfrm>
            <a:off x="8412480" y="2651760"/>
            <a:ext cx="2971800" cy="1005840"/>
          </a:xfrm>
          <a:prstGeom prst="rect">
            <a:avLst/>
          </a:prstGeom>
          <a:noFill/>
          <a:ln/>
        </p:spPr>
        <p:txBody>
          <a:bodyPr wrap="square" lIns="0" tIns="0" rIns="0" bIns="0" rtlCol="0" anchor="t"/>
          <a:lstStyle/>
          <a:p>
            <a:pPr indent="0" marL="0">
              <a:buNone/>
            </a:pPr>
            <a:r>
              <a:rPr lang="en-US" sz="1800" b="1" dirty="0">
                <a:solidFill>
                  <a:schemeClr val="tx1"/>
                </a:solidFill>
              </a:rPr>
              <a:t>+ CNN embedding</a:t>
            </a:r>
            <a:endParaRPr lang="en-US" sz="1800" dirty="0"/>
          </a:p>
          <a:p>
            <a:pPr indent="0" marL="0">
              <a:buNone/>
            </a:pPr>
            <a:r>
              <a:rPr lang="en-US" sz="1400" dirty="0">
                <a:solidFill>
                  <a:schemeClr val="accent4"/>
                </a:solidFill>
              </a:rPr>
              <a:t>best overall, but needs a CNN at inference</a:t>
            </a:r>
            <a:endParaRPr lang="en-US" sz="1800" dirty="0"/>
          </a:p>
        </p:txBody>
      </p:sp>
      <p:sp>
        <p:nvSpPr>
          <p:cNvPr id="12" name="takeaway 1 dot"/>
          <p:cNvSpPr/>
          <p:nvPr/>
        </p:nvSpPr>
        <p:spPr>
          <a:xfrm>
            <a:off x="548640" y="4206240"/>
            <a:ext cx="457200" cy="457200"/>
          </a:xfrm>
          <a:prstGeom prst="ellipse">
            <a:avLst/>
          </a:prstGeom>
          <a:solidFill>
            <a:schemeClr val="accent1"/>
          </a:solidFill>
          <a:ln/>
        </p:spPr>
      </p:sp>
      <p:sp>
        <p:nvSpPr>
          <p:cNvPr id="13" name="takeaway 1 num"/>
          <p:cNvSpPr txBox="1"/>
          <p:nvPr/>
        </p:nvSpPr>
        <p:spPr>
          <a:xfrm>
            <a:off x="548640" y="420624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14" name="takeaway 1 text"/>
          <p:cNvSpPr txBox="1"/>
          <p:nvPr/>
        </p:nvSpPr>
        <p:spPr>
          <a:xfrm>
            <a:off x="1234440" y="4160520"/>
            <a:ext cx="10408615" cy="868680"/>
          </a:xfrm>
          <a:prstGeom prst="rect">
            <a:avLst/>
          </a:prstGeom>
          <a:noFill/>
          <a:ln/>
        </p:spPr>
        <p:txBody>
          <a:bodyPr wrap="square" lIns="0" tIns="0" rIns="0" bIns="0" rtlCol="0" anchor="t"/>
          <a:lstStyle/>
          <a:p>
            <a:pPr indent="0" marL="0">
              <a:buNone/>
            </a:pPr>
            <a:r>
              <a:rPr lang="en-US" sz="1700" b="1" dirty="0">
                <a:solidFill>
                  <a:schemeClr val="tx2"/>
                </a:solidFill>
              </a:rPr>
              <a:t>The gain comes from images, not traces or model choice</a:t>
            </a:r>
            <a:endParaRPr lang="en-US" sz="1700" dirty="0"/>
          </a:p>
          <a:p>
            <a:pPr indent="0" marL="0">
              <a:buNone/>
            </a:pPr>
            <a:r>
              <a:rPr lang="en-US" sz="1400" dirty="0">
                <a:solidFill>
                  <a:schemeClr val="tx1"/>
                </a:solidFill>
              </a:rPr>
              <a:t>Hand-made trace features beat every learned trace embedding; LightGBM, XGBoost and CatBoost tie within ±0.003</a:t>
            </a:r>
            <a:endParaRPr lang="en-US" sz="1700" dirty="0"/>
          </a:p>
        </p:txBody>
      </p:sp>
      <p:sp>
        <p:nvSpPr>
          <p:cNvPr id="15" name="takeaway 2 dot"/>
          <p:cNvSpPr/>
          <p:nvPr/>
        </p:nvSpPr>
        <p:spPr>
          <a:xfrm>
            <a:off x="548640" y="5212080"/>
            <a:ext cx="457200" cy="457200"/>
          </a:xfrm>
          <a:prstGeom prst="ellipse">
            <a:avLst/>
          </a:prstGeom>
          <a:solidFill>
            <a:schemeClr val="accent1"/>
          </a:solidFill>
          <a:ln/>
        </p:spPr>
      </p:sp>
      <p:sp>
        <p:nvSpPr>
          <p:cNvPr id="16" name="takeaway 2 num"/>
          <p:cNvSpPr txBox="1"/>
          <p:nvPr/>
        </p:nvSpPr>
        <p:spPr>
          <a:xfrm>
            <a:off x="548640" y="52120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7" name="takeaway 2 text"/>
          <p:cNvSpPr txBox="1"/>
          <p:nvPr/>
        </p:nvSpPr>
        <p:spPr>
          <a:xfrm>
            <a:off x="1234440" y="5166360"/>
            <a:ext cx="10408615" cy="868680"/>
          </a:xfrm>
          <a:prstGeom prst="rect">
            <a:avLst/>
          </a:prstGeom>
          <a:noFill/>
          <a:ln/>
        </p:spPr>
        <p:txBody>
          <a:bodyPr wrap="square" lIns="0" tIns="0" rIns="0" bIns="0" rtlCol="0" anchor="t"/>
          <a:lstStyle/>
          <a:p>
            <a:pPr indent="0" marL="0">
              <a:buNone/>
            </a:pPr>
            <a:r>
              <a:rPr lang="en-US" sz="1700" b="1" dirty="0">
                <a:solidFill>
                  <a:schemeClr val="tx2"/>
                </a:solidFill>
              </a:rPr>
              <a:t>Who labelled the data matters</a:t>
            </a:r>
            <a:endParaRPr lang="en-US" sz="1700" dirty="0"/>
          </a:p>
          <a:p>
            <a:pPr indent="0" marL="0">
              <a:buNone/>
            </a:pPr>
            <a:r>
              <a:rPr lang="en-US" sz="1400" dirty="0">
                <a:solidFill>
                  <a:schemeClr val="tx1"/>
                </a:solidFill>
              </a:rPr>
              <a:t>Stav-trained models score best on Stav sessions in 4 of 4 tests; on the hardest Inbar sessions an Inbar-trained model wins by 0.04</a:t>
            </a:r>
            <a:endParaRPr lang="en-US" sz="17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29 clean sessions, 84,583 ROIs, trusted labels</a:t>
            </a:r>
            <a:endParaRPr lang="en-US" sz="3000" dirty="0"/>
          </a:p>
        </p:txBody>
      </p:sp>
      <p:sp>
        <p:nvSpPr>
          <p:cNvPr id="3" name="key figure 1"/>
          <p:cNvSpPr/>
          <p:nvPr/>
        </p:nvSpPr>
        <p:spPr>
          <a:xfrm>
            <a:off x="548640" y="1417320"/>
            <a:ext cx="3017520" cy="1234440"/>
          </a:xfrm>
          <a:prstGeom prst="roundRect">
            <a:avLst>
              <a:gd name="adj" fmla="val 8889"/>
            </a:avLst>
          </a:prstGeom>
          <a:solidFill>
            <a:schemeClr val="bg2"/>
          </a:solidFill>
          <a:ln/>
        </p:spPr>
      </p:sp>
      <p:sp>
        <p:nvSpPr>
          <p:cNvPr id="4" name="key figure 1 text"/>
          <p:cNvSpPr txBox="1"/>
          <p:nvPr/>
        </p:nvSpPr>
        <p:spPr>
          <a:xfrm>
            <a:off x="822960" y="1527048"/>
            <a:ext cx="2560320" cy="105156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29</a:t>
            </a:r>
            <a:endParaRPr lang="en-US" sz="4000" dirty="0"/>
          </a:p>
          <a:p>
            <a:pPr indent="0" marL="0">
              <a:buNone/>
            </a:pPr>
            <a:r>
              <a:rPr lang="en-US" sz="1500" dirty="0">
                <a:solidFill>
                  <a:schemeClr val="accent4"/>
                </a:solidFill>
              </a:rPr>
              <a:t>sessions</a:t>
            </a:r>
            <a:endParaRPr lang="en-US" sz="4000" dirty="0"/>
          </a:p>
        </p:txBody>
      </p:sp>
      <p:sp>
        <p:nvSpPr>
          <p:cNvPr id="5" name="key figure 2"/>
          <p:cNvSpPr/>
          <p:nvPr/>
        </p:nvSpPr>
        <p:spPr>
          <a:xfrm>
            <a:off x="548640" y="2880360"/>
            <a:ext cx="3017520" cy="1234440"/>
          </a:xfrm>
          <a:prstGeom prst="roundRect">
            <a:avLst>
              <a:gd name="adj" fmla="val 8889"/>
            </a:avLst>
          </a:prstGeom>
          <a:solidFill>
            <a:schemeClr val="bg2"/>
          </a:solidFill>
          <a:ln/>
        </p:spPr>
      </p:sp>
      <p:sp>
        <p:nvSpPr>
          <p:cNvPr id="6" name="key figure 2 text"/>
          <p:cNvSpPr txBox="1"/>
          <p:nvPr/>
        </p:nvSpPr>
        <p:spPr>
          <a:xfrm>
            <a:off x="822960" y="2990088"/>
            <a:ext cx="2560320" cy="105156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84,583</a:t>
            </a:r>
            <a:endParaRPr lang="en-US" sz="4000" dirty="0"/>
          </a:p>
          <a:p>
            <a:pPr indent="0" marL="0">
              <a:buNone/>
            </a:pPr>
            <a:r>
              <a:rPr lang="en-US" sz="1500" dirty="0">
                <a:solidFill>
                  <a:schemeClr val="accent4"/>
                </a:solidFill>
              </a:rPr>
              <a:t>ROIs</a:t>
            </a:r>
            <a:endParaRPr lang="en-US" sz="4000" dirty="0"/>
          </a:p>
        </p:txBody>
      </p:sp>
      <p:sp>
        <p:nvSpPr>
          <p:cNvPr id="7" name="key figure 3"/>
          <p:cNvSpPr/>
          <p:nvPr/>
        </p:nvSpPr>
        <p:spPr>
          <a:xfrm>
            <a:off x="548640" y="4343400"/>
            <a:ext cx="3017520" cy="1234440"/>
          </a:xfrm>
          <a:prstGeom prst="roundRect">
            <a:avLst>
              <a:gd name="adj" fmla="val 8889"/>
            </a:avLst>
          </a:prstGeom>
          <a:solidFill>
            <a:schemeClr val="bg2"/>
          </a:solidFill>
          <a:ln/>
        </p:spPr>
      </p:sp>
      <p:sp>
        <p:nvSpPr>
          <p:cNvPr id="8" name="key figure 3 text"/>
          <p:cNvSpPr txBox="1"/>
          <p:nvPr/>
        </p:nvSpPr>
        <p:spPr>
          <a:xfrm>
            <a:off x="822960" y="4453128"/>
            <a:ext cx="2560320" cy="105156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17.6%</a:t>
            </a:r>
            <a:endParaRPr lang="en-US" sz="4000" dirty="0"/>
          </a:p>
          <a:p>
            <a:pPr indent="0" marL="0">
              <a:buNone/>
            </a:pPr>
            <a:r>
              <a:rPr lang="en-US" sz="1500" dirty="0">
                <a:solidFill>
                  <a:schemeClr val="accent4"/>
                </a:solidFill>
              </a:rPr>
              <a:t>labelled cells</a:t>
            </a:r>
            <a:endParaRPr lang="en-US" sz="4000" dirty="0"/>
          </a:p>
        </p:txBody>
      </p:sp>
      <p:sp>
        <p:nvSpPr>
          <p:cNvPr id="9" name="excluded card"/>
          <p:cNvSpPr/>
          <p:nvPr/>
        </p:nvSpPr>
        <p:spPr>
          <a:xfrm>
            <a:off x="3931920" y="1417320"/>
            <a:ext cx="7711135" cy="2377440"/>
          </a:xfrm>
          <a:prstGeom prst="roundRect">
            <a:avLst>
              <a:gd name="adj" fmla="val 4615"/>
            </a:avLst>
          </a:prstGeom>
          <a:solidFill>
            <a:schemeClr val="bg2"/>
          </a:solidFill>
          <a:ln/>
        </p:spPr>
      </p:sp>
      <p:sp>
        <p:nvSpPr>
          <p:cNvPr id="10" name="excluded text"/>
          <p:cNvSpPr txBox="1"/>
          <p:nvPr/>
        </p:nvSpPr>
        <p:spPr>
          <a:xfrm>
            <a:off x="4206240" y="1554480"/>
            <a:ext cx="7162495" cy="2148840"/>
          </a:xfrm>
          <a:prstGeom prst="rect">
            <a:avLst/>
          </a:prstGeom>
          <a:noFill/>
          <a:ln/>
        </p:spPr>
        <p:txBody>
          <a:bodyPr wrap="square" lIns="0" tIns="0" rIns="0" bIns="0" rtlCol="0" anchor="t"/>
          <a:lstStyle/>
          <a:p>
            <a:pPr indent="0" marL="0">
              <a:spcAft>
                <a:spcPts val="600"/>
              </a:spcAft>
              <a:buNone/>
            </a:pPr>
            <a:r>
              <a:rPr lang="en-US" sz="1800" b="1" dirty="0">
                <a:solidFill>
                  <a:schemeClr val="tx2"/>
                </a:solidFill>
              </a:rPr>
              <a:t>Left out, and why</a:t>
            </a:r>
            <a:endParaRPr lang="en-US" sz="1800" dirty="0"/>
          </a:p>
          <a:p>
            <a:pPr marL="342900" indent="-342900">
              <a:buSzPct val="100000"/>
              <a:buChar char="•"/>
            </a:pPr>
            <a:r>
              <a:rPr lang="en-US" sz="1500" dirty="0">
                <a:solidFill>
                  <a:schemeClr val="tx1"/>
                </a:solidFill>
              </a:rPr>
              <a:t>Yael sessions: known bad data</a:t>
            </a:r>
            <a:endParaRPr lang="en-US" sz="1800" dirty="0"/>
          </a:p>
          <a:p>
            <a:pPr marL="342900" indent="-342900">
              <a:buSzPct val="100000"/>
              <a:buChar char="•"/>
            </a:pPr>
            <a:r>
              <a:rPr lang="en-US" sz="1500" dirty="0">
                <a:solidFill>
                  <a:schemeClr val="tx1"/>
                </a:solidFill>
              </a:rPr>
              <a:t>stav22: held-out session in the existing training script</a:t>
            </a:r>
            <a:endParaRPr lang="en-US" sz="1800" dirty="0"/>
          </a:p>
          <a:p>
            <a:pPr marL="342900" indent="-342900">
              <a:buSzPct val="100000"/>
              <a:buChar char="•"/>
            </a:pPr>
            <a:r>
              <a:rPr lang="en-US" sz="1500" dirty="0">
                <a:solidFill>
                  <a:schemeClr val="tx1"/>
                </a:solidFill>
              </a:rPr>
              <a:t>Stav3/21: 70% labelled cells vs 5–28% elsewhere, looks uncurated</a:t>
            </a:r>
            <a:endParaRPr lang="en-US" sz="1800" dirty="0"/>
          </a:p>
          <a:p>
            <a:pPr marL="342900" indent="-342900">
              <a:buSzPct val="100000"/>
              <a:buChar char="•"/>
            </a:pPr>
            <a:r>
              <a:rPr lang="en-US" sz="1500" dirty="0">
                <a:solidFill>
                  <a:schemeClr val="tx1"/>
                </a:solidFill>
              </a:rPr>
              <a:t>Stav1: byte-identical copy of Stav5 (same traces, ROIs, labels) with an ops.npy from another recording</a:t>
            </a:r>
            <a:endParaRPr lang="en-US" sz="1800" dirty="0"/>
          </a:p>
        </p:txBody>
      </p:sp>
      <p:sp>
        <p:nvSpPr>
          <p:cNvPr id="11" name="labels card"/>
          <p:cNvSpPr/>
          <p:nvPr/>
        </p:nvSpPr>
        <p:spPr>
          <a:xfrm>
            <a:off x="3931920" y="4023360"/>
            <a:ext cx="7711135" cy="2103120"/>
          </a:xfrm>
          <a:prstGeom prst="roundRect">
            <a:avLst>
              <a:gd name="adj" fmla="val 5217"/>
            </a:avLst>
          </a:prstGeom>
          <a:solidFill>
            <a:schemeClr val="bg2"/>
          </a:solidFill>
          <a:ln/>
        </p:spPr>
      </p:sp>
      <p:sp>
        <p:nvSpPr>
          <p:cNvPr id="12" name="labels text"/>
          <p:cNvSpPr txBox="1"/>
          <p:nvPr/>
        </p:nvSpPr>
        <p:spPr>
          <a:xfrm>
            <a:off x="4206240" y="4160520"/>
            <a:ext cx="7162495" cy="1874520"/>
          </a:xfrm>
          <a:prstGeom prst="rect">
            <a:avLst/>
          </a:prstGeom>
          <a:noFill/>
          <a:ln/>
        </p:spPr>
        <p:txBody>
          <a:bodyPr wrap="square" lIns="0" tIns="0" rIns="0" bIns="0" rtlCol="0" anchor="t"/>
          <a:lstStyle/>
          <a:p>
            <a:pPr indent="0" marL="0">
              <a:spcAft>
                <a:spcPts val="600"/>
              </a:spcAft>
              <a:buNone/>
            </a:pPr>
            <a:r>
              <a:rPr lang="en-US" sz="1800" b="1" dirty="0">
                <a:solidFill>
                  <a:schemeClr val="tx2"/>
                </a:solidFill>
              </a:rPr>
              <a:t>Label bugs fixed</a:t>
            </a:r>
            <a:endParaRPr lang="en-US" sz="1800" dirty="0"/>
          </a:p>
          <a:p>
            <a:pPr marL="342900" indent="-342900">
              <a:buSzPct val="100000"/>
              <a:buChar char="•"/>
            </a:pPr>
            <a:r>
              <a:rPr lang="en-US" sz="1500" dirty="0">
                <a:solidFill>
                  <a:schemeClr val="tx1"/>
                </a:solidFill>
              </a:rPr>
              <a:t>Priority now: iscell_final → iscell_backup_before_AI → iscell</a:t>
            </a:r>
            <a:endParaRPr lang="en-US" sz="1800" dirty="0"/>
          </a:p>
          <a:p>
            <a:pPr marL="342900" indent="-342900">
              <a:buSzPct val="100000"/>
              <a:buChar char="•"/>
            </a:pPr>
            <a:r>
              <a:rPr lang="en-US" sz="1500" dirty="0">
                <a:solidFill>
                  <a:schemeClr val="tx1"/>
                </a:solidFill>
              </a:rPr>
              <a:t>Old train_model.py never read iscell_final, so final-only sessions were skipped</a:t>
            </a:r>
            <a:endParaRPr lang="en-US" sz="1800" dirty="0"/>
          </a:p>
          <a:p>
            <a:pPr marL="342900" indent="-342900">
              <a:buSzPct val="100000"/>
              <a:buChar char="•"/>
            </a:pPr>
            <a:r>
              <a:rPr lang="en-US" sz="1500" dirty="0">
                <a:solidFill>
                  <a:schemeClr val="tx1"/>
                </a:solidFill>
              </a:rPr>
              <a:t>For Inbar6 and inbar4 it trained on an iscell.npy that apply_AI.py had overwritten (8–9% of ROIs differ)</a:t>
            </a:r>
            <a:endParaRPr lang="en-US" sz="18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Honest evaluation: the test sessions never touch tuning</a:t>
            </a:r>
            <a:endParaRPr lang="en-US" sz="3000" dirty="0"/>
          </a:p>
        </p:txBody>
      </p:sp>
      <p:sp>
        <p:nvSpPr>
          <p:cNvPr id="3" name="step 1 card"/>
          <p:cNvSpPr/>
          <p:nvPr/>
        </p:nvSpPr>
        <p:spPr>
          <a:xfrm>
            <a:off x="548640" y="1463040"/>
            <a:ext cx="2514600" cy="2514600"/>
          </a:xfrm>
          <a:prstGeom prst="roundRect">
            <a:avLst>
              <a:gd name="adj" fmla="val 4364"/>
            </a:avLst>
          </a:prstGeom>
          <a:solidFill>
            <a:schemeClr val="bg2"/>
          </a:solidFill>
          <a:ln/>
        </p:spPr>
      </p:sp>
      <p:sp>
        <p:nvSpPr>
          <p:cNvPr id="4" name="step 1 dot"/>
          <p:cNvSpPr/>
          <p:nvPr/>
        </p:nvSpPr>
        <p:spPr>
          <a:xfrm>
            <a:off x="777240" y="1691640"/>
            <a:ext cx="502920" cy="502920"/>
          </a:xfrm>
          <a:prstGeom prst="ellipse">
            <a:avLst/>
          </a:prstGeom>
          <a:solidFill>
            <a:schemeClr val="accent2"/>
          </a:solidFill>
          <a:ln/>
        </p:spPr>
      </p:sp>
      <p:sp>
        <p:nvSpPr>
          <p:cNvPr id="5" name="step 1 num"/>
          <p:cNvSpPr txBox="1"/>
          <p:nvPr/>
        </p:nvSpPr>
        <p:spPr>
          <a:xfrm>
            <a:off x="777240" y="1691640"/>
            <a:ext cx="502920" cy="502920"/>
          </a:xfrm>
          <a:prstGeom prst="rect">
            <a:avLst/>
          </a:prstGeom>
          <a:noFill/>
          <a:ln/>
        </p:spPr>
        <p:txBody>
          <a:bodyPr wrap="square" lIns="0" tIns="0" rIns="0" bIns="0" rtlCol="0" anchor="ctr"/>
          <a:lstStyle/>
          <a:p>
            <a:pPr algn="ctr" indent="0" marL="0">
              <a:buNone/>
            </a:pPr>
            <a:r>
              <a:rPr lang="en-US" sz="1700" b="1" dirty="0">
                <a:solidFill>
                  <a:schemeClr val="bg1"/>
                </a:solidFill>
              </a:rPr>
              <a:t>1</a:t>
            </a:r>
            <a:endParaRPr lang="en-US" sz="1700" dirty="0"/>
          </a:p>
        </p:txBody>
      </p:sp>
      <p:sp>
        <p:nvSpPr>
          <p:cNvPr id="6" name="step 1 text"/>
          <p:cNvSpPr txBox="1"/>
          <p:nvPr/>
        </p:nvSpPr>
        <p:spPr>
          <a:xfrm>
            <a:off x="777240" y="2331720"/>
            <a:ext cx="2057400" cy="155448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Split by session</a:t>
            </a:r>
            <a:endParaRPr lang="en-US" sz="1600" dirty="0"/>
          </a:p>
          <a:p>
            <a:pPr indent="0" marL="0">
              <a:buNone/>
            </a:pPr>
            <a:r>
              <a:rPr lang="en-US" sz="1400" dirty="0">
                <a:solidFill>
                  <a:schemeClr val="tx1"/>
                </a:solidFill>
              </a:rPr>
              <a:t>GroupKFold, 5 folds × 3 shuffled repeats: every session is tested by a model that never saw it</a:t>
            </a:r>
            <a:endParaRPr lang="en-US" sz="1600" dirty="0"/>
          </a:p>
        </p:txBody>
      </p:sp>
      <p:sp>
        <p:nvSpPr>
          <p:cNvPr id="7" name="arrow 1"/>
          <p:cNvSpPr/>
          <p:nvPr/>
        </p:nvSpPr>
        <p:spPr>
          <a:xfrm>
            <a:off x="3118104" y="2560320"/>
            <a:ext cx="228600" cy="320040"/>
          </a:xfrm>
          <a:prstGeom prst="rightArrow">
            <a:avLst/>
          </a:prstGeom>
          <a:solidFill>
            <a:schemeClr val="accent4"/>
          </a:solidFill>
          <a:ln/>
        </p:spPr>
      </p:sp>
      <p:sp>
        <p:nvSpPr>
          <p:cNvPr id="8" name="step 2 card"/>
          <p:cNvSpPr/>
          <p:nvPr/>
        </p:nvSpPr>
        <p:spPr>
          <a:xfrm>
            <a:off x="3401568" y="1463040"/>
            <a:ext cx="2514600" cy="2514600"/>
          </a:xfrm>
          <a:prstGeom prst="roundRect">
            <a:avLst>
              <a:gd name="adj" fmla="val 4364"/>
            </a:avLst>
          </a:prstGeom>
          <a:solidFill>
            <a:schemeClr val="bg2"/>
          </a:solidFill>
          <a:ln/>
        </p:spPr>
      </p:sp>
      <p:sp>
        <p:nvSpPr>
          <p:cNvPr id="9" name="step 2 dot"/>
          <p:cNvSpPr/>
          <p:nvPr/>
        </p:nvSpPr>
        <p:spPr>
          <a:xfrm>
            <a:off x="3630168" y="1691640"/>
            <a:ext cx="502920" cy="502920"/>
          </a:xfrm>
          <a:prstGeom prst="ellipse">
            <a:avLst/>
          </a:prstGeom>
          <a:solidFill>
            <a:schemeClr val="accent2"/>
          </a:solidFill>
          <a:ln/>
        </p:spPr>
      </p:sp>
      <p:sp>
        <p:nvSpPr>
          <p:cNvPr id="10" name="step 2 num"/>
          <p:cNvSpPr txBox="1"/>
          <p:nvPr/>
        </p:nvSpPr>
        <p:spPr>
          <a:xfrm>
            <a:off x="3630168" y="1691640"/>
            <a:ext cx="502920" cy="502920"/>
          </a:xfrm>
          <a:prstGeom prst="rect">
            <a:avLst/>
          </a:prstGeom>
          <a:noFill/>
          <a:ln/>
        </p:spPr>
        <p:txBody>
          <a:bodyPr wrap="square" lIns="0" tIns="0" rIns="0" bIns="0" rtlCol="0" anchor="ctr"/>
          <a:lstStyle/>
          <a:p>
            <a:pPr algn="ctr" indent="0" marL="0">
              <a:buNone/>
            </a:pPr>
            <a:r>
              <a:rPr lang="en-US" sz="1700" b="1" dirty="0">
                <a:solidFill>
                  <a:schemeClr val="bg1"/>
                </a:solidFill>
              </a:rPr>
              <a:t>2</a:t>
            </a:r>
            <a:endParaRPr lang="en-US" sz="1700" dirty="0"/>
          </a:p>
        </p:txBody>
      </p:sp>
      <p:sp>
        <p:nvSpPr>
          <p:cNvPr id="11" name="step 2 text"/>
          <p:cNvSpPr txBox="1"/>
          <p:nvPr/>
        </p:nvSpPr>
        <p:spPr>
          <a:xfrm>
            <a:off x="3630168" y="2331720"/>
            <a:ext cx="2057400" cy="155448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Inner CV on training sessions</a:t>
            </a:r>
            <a:endParaRPr lang="en-US" sz="1600" dirty="0"/>
          </a:p>
          <a:p>
            <a:pPr indent="0" marL="0">
              <a:buNone/>
            </a:pPr>
            <a:r>
              <a:rPr lang="en-US" sz="1400" dirty="0">
                <a:solidFill>
                  <a:schemeClr val="tx1"/>
                </a:solidFill>
              </a:rPr>
              <a:t>A second session-grouped CV inside the training folds only</a:t>
            </a:r>
            <a:endParaRPr lang="en-US" sz="1600" dirty="0"/>
          </a:p>
        </p:txBody>
      </p:sp>
      <p:sp>
        <p:nvSpPr>
          <p:cNvPr id="12" name="arrow 2"/>
          <p:cNvSpPr/>
          <p:nvPr/>
        </p:nvSpPr>
        <p:spPr>
          <a:xfrm>
            <a:off x="5971032" y="2560320"/>
            <a:ext cx="228600" cy="320040"/>
          </a:xfrm>
          <a:prstGeom prst="rightArrow">
            <a:avLst/>
          </a:prstGeom>
          <a:solidFill>
            <a:schemeClr val="accent4"/>
          </a:solidFill>
          <a:ln/>
        </p:spPr>
      </p:sp>
      <p:sp>
        <p:nvSpPr>
          <p:cNvPr id="13" name="step 3 card"/>
          <p:cNvSpPr/>
          <p:nvPr/>
        </p:nvSpPr>
        <p:spPr>
          <a:xfrm>
            <a:off x="6254496" y="1463040"/>
            <a:ext cx="2514600" cy="2514600"/>
          </a:xfrm>
          <a:prstGeom prst="roundRect">
            <a:avLst>
              <a:gd name="adj" fmla="val 4364"/>
            </a:avLst>
          </a:prstGeom>
          <a:solidFill>
            <a:schemeClr val="bg2"/>
          </a:solidFill>
          <a:ln/>
        </p:spPr>
      </p:sp>
      <p:sp>
        <p:nvSpPr>
          <p:cNvPr id="14" name="step 3 dot"/>
          <p:cNvSpPr/>
          <p:nvPr/>
        </p:nvSpPr>
        <p:spPr>
          <a:xfrm>
            <a:off x="6483096" y="1691640"/>
            <a:ext cx="502920" cy="502920"/>
          </a:xfrm>
          <a:prstGeom prst="ellipse">
            <a:avLst/>
          </a:prstGeom>
          <a:solidFill>
            <a:schemeClr val="accent2"/>
          </a:solidFill>
          <a:ln/>
        </p:spPr>
      </p:sp>
      <p:sp>
        <p:nvSpPr>
          <p:cNvPr id="15" name="step 3 num"/>
          <p:cNvSpPr txBox="1"/>
          <p:nvPr/>
        </p:nvSpPr>
        <p:spPr>
          <a:xfrm>
            <a:off x="6483096" y="1691640"/>
            <a:ext cx="502920" cy="502920"/>
          </a:xfrm>
          <a:prstGeom prst="rect">
            <a:avLst/>
          </a:prstGeom>
          <a:noFill/>
          <a:ln/>
        </p:spPr>
        <p:txBody>
          <a:bodyPr wrap="square" lIns="0" tIns="0" rIns="0" bIns="0" rtlCol="0" anchor="ctr"/>
          <a:lstStyle/>
          <a:p>
            <a:pPr algn="ctr" indent="0" marL="0">
              <a:buNone/>
            </a:pPr>
            <a:r>
              <a:rPr lang="en-US" sz="1700" b="1" dirty="0">
                <a:solidFill>
                  <a:schemeClr val="bg1"/>
                </a:solidFill>
              </a:rPr>
              <a:t>3</a:t>
            </a:r>
            <a:endParaRPr lang="en-US" sz="1700" dirty="0"/>
          </a:p>
        </p:txBody>
      </p:sp>
      <p:sp>
        <p:nvSpPr>
          <p:cNvPr id="16" name="step 3 text"/>
          <p:cNvSpPr txBox="1"/>
          <p:nvPr/>
        </p:nvSpPr>
        <p:spPr>
          <a:xfrm>
            <a:off x="6483096" y="2331720"/>
            <a:ext cx="2057400" cy="155448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Pick trees and threshold</a:t>
            </a:r>
            <a:endParaRPr lang="en-US" sz="1600" dirty="0"/>
          </a:p>
          <a:p>
            <a:pPr indent="0" marL="0">
              <a:buNone/>
            </a:pPr>
            <a:r>
              <a:rPr lang="en-US" sz="1400" dirty="0">
                <a:solidFill>
                  <a:schemeClr val="tx1"/>
                </a:solidFill>
              </a:rPr>
              <a:t>Early-stopping round and the F1-optimal threshold come from the inner CV</a:t>
            </a:r>
            <a:endParaRPr lang="en-US" sz="1600" dirty="0"/>
          </a:p>
        </p:txBody>
      </p:sp>
      <p:sp>
        <p:nvSpPr>
          <p:cNvPr id="17" name="arrow 3"/>
          <p:cNvSpPr/>
          <p:nvPr/>
        </p:nvSpPr>
        <p:spPr>
          <a:xfrm>
            <a:off x="8823960" y="2560320"/>
            <a:ext cx="228600" cy="320040"/>
          </a:xfrm>
          <a:prstGeom prst="rightArrow">
            <a:avLst/>
          </a:prstGeom>
          <a:solidFill>
            <a:schemeClr val="accent4"/>
          </a:solidFill>
          <a:ln/>
        </p:spPr>
      </p:sp>
      <p:sp>
        <p:nvSpPr>
          <p:cNvPr id="18" name="step 4 card"/>
          <p:cNvSpPr/>
          <p:nvPr/>
        </p:nvSpPr>
        <p:spPr>
          <a:xfrm>
            <a:off x="9107424" y="1463040"/>
            <a:ext cx="2514600" cy="2514600"/>
          </a:xfrm>
          <a:prstGeom prst="roundRect">
            <a:avLst>
              <a:gd name="adj" fmla="val 4364"/>
            </a:avLst>
          </a:prstGeom>
          <a:solidFill>
            <a:schemeClr val="bg2"/>
          </a:solidFill>
          <a:ln/>
        </p:spPr>
      </p:sp>
      <p:sp>
        <p:nvSpPr>
          <p:cNvPr id="19" name="step 4 dot"/>
          <p:cNvSpPr/>
          <p:nvPr/>
        </p:nvSpPr>
        <p:spPr>
          <a:xfrm>
            <a:off x="9336024" y="1691640"/>
            <a:ext cx="502920" cy="502920"/>
          </a:xfrm>
          <a:prstGeom prst="ellipse">
            <a:avLst/>
          </a:prstGeom>
          <a:solidFill>
            <a:schemeClr val="accent2"/>
          </a:solidFill>
          <a:ln/>
        </p:spPr>
      </p:sp>
      <p:sp>
        <p:nvSpPr>
          <p:cNvPr id="20" name="step 4 num"/>
          <p:cNvSpPr txBox="1"/>
          <p:nvPr/>
        </p:nvSpPr>
        <p:spPr>
          <a:xfrm>
            <a:off x="9336024" y="1691640"/>
            <a:ext cx="502920" cy="502920"/>
          </a:xfrm>
          <a:prstGeom prst="rect">
            <a:avLst/>
          </a:prstGeom>
          <a:noFill/>
          <a:ln/>
        </p:spPr>
        <p:txBody>
          <a:bodyPr wrap="square" lIns="0" tIns="0" rIns="0" bIns="0" rtlCol="0" anchor="ctr"/>
          <a:lstStyle/>
          <a:p>
            <a:pPr algn="ctr" indent="0" marL="0">
              <a:buNone/>
            </a:pPr>
            <a:r>
              <a:rPr lang="en-US" sz="1700" b="1" dirty="0">
                <a:solidFill>
                  <a:schemeClr val="bg1"/>
                </a:solidFill>
              </a:rPr>
              <a:t>4</a:t>
            </a:r>
            <a:endParaRPr lang="en-US" sz="1700" dirty="0"/>
          </a:p>
        </p:txBody>
      </p:sp>
      <p:sp>
        <p:nvSpPr>
          <p:cNvPr id="21" name="step 4 text"/>
          <p:cNvSpPr txBox="1"/>
          <p:nvPr/>
        </p:nvSpPr>
        <p:spPr>
          <a:xfrm>
            <a:off x="9336024" y="2331720"/>
            <a:ext cx="2057400" cy="155448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Score the held-out sessions</a:t>
            </a:r>
            <a:endParaRPr lang="en-US" sz="1600" dirty="0"/>
          </a:p>
          <a:p>
            <a:pPr indent="0" marL="0">
              <a:buNone/>
            </a:pPr>
            <a:r>
              <a:rPr lang="en-US" sz="1400" dirty="0">
                <a:solidFill>
                  <a:schemeClr val="tx1"/>
                </a:solidFill>
              </a:rPr>
              <a:t>Precision, recall and F1 per fold; gains are paired fold by fold</a:t>
            </a:r>
            <a:endParaRPr lang="en-US" sz="1600" dirty="0"/>
          </a:p>
        </p:txBody>
      </p:sp>
      <p:sp>
        <p:nvSpPr>
          <p:cNvPr id="22" name="old vs new card"/>
          <p:cNvSpPr/>
          <p:nvPr/>
        </p:nvSpPr>
        <p:spPr>
          <a:xfrm>
            <a:off x="548640" y="4343400"/>
            <a:ext cx="11094415" cy="1783080"/>
          </a:xfrm>
          <a:prstGeom prst="roundRect">
            <a:avLst>
              <a:gd name="adj" fmla="val 6154"/>
            </a:avLst>
          </a:prstGeom>
          <a:solidFill>
            <a:schemeClr val="bg2"/>
          </a:solidFill>
          <a:ln/>
        </p:spPr>
      </p:sp>
      <p:sp>
        <p:nvSpPr>
          <p:cNvPr id="23" name="old vs new text"/>
          <p:cNvSpPr txBox="1"/>
          <p:nvPr/>
        </p:nvSpPr>
        <p:spPr>
          <a:xfrm>
            <a:off x="822960" y="4480560"/>
            <a:ext cx="10545775" cy="1554480"/>
          </a:xfrm>
          <a:prstGeom prst="rect">
            <a:avLst/>
          </a:prstGeom>
          <a:noFill/>
          <a:ln/>
        </p:spPr>
        <p:txBody>
          <a:bodyPr wrap="square" lIns="0" tIns="0" rIns="0" bIns="0" rtlCol="0" anchor="t"/>
          <a:lstStyle/>
          <a:p>
            <a:pPr indent="0" marL="0">
              <a:spcAft>
                <a:spcPts val="600"/>
              </a:spcAft>
              <a:buNone/>
            </a:pPr>
            <a:r>
              <a:rPr lang="en-US" sz="1600" b="1" dirty="0">
                <a:solidFill>
                  <a:schemeClr val="tx2"/>
                </a:solidFill>
              </a:rPr>
              <a:t>Before: the old script tuned early stopping and the threshold on the test fold itself</a:t>
            </a:r>
            <a:endParaRPr lang="en-US" sz="1600" dirty="0"/>
          </a:p>
          <a:p>
            <a:pPr marL="342900" indent="-342900">
              <a:buSzPct val="100000"/>
              <a:buChar char="•"/>
            </a:pPr>
            <a:r>
              <a:rPr lang="en-US" sz="1500" dirty="0">
                <a:solidFill>
                  <a:schemeClr val="tx1"/>
                </a:solidFill>
              </a:rPr>
              <a:t>Same 27 features, same data: tuned on the test fold 0.832  →  honest 0.827</a:t>
            </a:r>
            <a:endParaRPr lang="en-US" sz="1600" dirty="0"/>
          </a:p>
          <a:p>
            <a:pPr marL="342900" indent="-342900">
              <a:buSzPct val="100000"/>
              <a:buChar char="•"/>
            </a:pPr>
            <a:r>
              <a:rPr lang="en-US" sz="1500" dirty="0">
                <a:solidFill>
                  <a:schemeClr val="tx1"/>
                </a:solidFill>
              </a:rPr>
              <a:t>The README's 0.856 came from a different session set and labels, so it is not comparable</a:t>
            </a:r>
            <a:endParaRPr lang="en-US" sz="16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Image features compare each mask with the images</a:t>
            </a:r>
            <a:endParaRPr lang="en-US" sz="3000" dirty="0"/>
          </a:p>
        </p:txBody>
      </p:sp>
      <p:pic>
        <p:nvPicPr>
          <p:cNvPr id="3" name="example crops" descr="Example ROI crops from Stav17: two labelled cells and two non-cells, each shown in meanImg, max_proj and Vcorr with the ROI mask outlined">    </p:cNvPr>
          <p:cNvPicPr>
            <a:picLocks noChangeAspect="1"/>
          </p:cNvPicPr>
          <p:nvPr/>
        </p:nvPicPr>
        <p:blipFill>
          <a:blip r:embed="rId1"/>
          <a:stretch>
            <a:fillRect/>
          </a:stretch>
        </p:blipFill>
        <p:spPr>
          <a:xfrm>
            <a:off x="548640" y="1188720"/>
            <a:ext cx="3886927" cy="5074920"/>
          </a:xfrm>
          <a:prstGeom prst="rect">
            <a:avLst/>
          </a:prstGeom>
        </p:spPr>
      </p:pic>
      <p:sp>
        <p:nvSpPr>
          <p:cNvPr id="4" name="intro text"/>
          <p:cNvSpPr txBox="1"/>
          <p:nvPr/>
        </p:nvSpPr>
        <p:spPr>
          <a:xfrm>
            <a:off x="4892767" y="1234440"/>
            <a:ext cx="6750288" cy="822960"/>
          </a:xfrm>
          <a:prstGeom prst="rect">
            <a:avLst/>
          </a:prstGeom>
          <a:noFill/>
          <a:ln/>
        </p:spPr>
        <p:txBody>
          <a:bodyPr wrap="square" lIns="0" tIns="0" rIns="0" bIns="0" rtlCol="0" anchor="t"/>
          <a:lstStyle/>
          <a:p>
            <a:pPr indent="0" marL="0">
              <a:buNone/>
            </a:pPr>
            <a:r>
              <a:rPr lang="en-US" sz="1500" dirty="0">
                <a:solidFill>
                  <a:schemeClr val="tx1"/>
                </a:solidFill>
              </a:rPr>
              <a:t>Your morphology features only see the mask's shape (stat.npy). These 17 features look at what the images show inside and around it (ops.npy).</a:t>
            </a:r>
            <a:endParaRPr lang="en-US" sz="1500" dirty="0"/>
          </a:p>
        </p:txBody>
      </p:sp>
      <p:sp>
        <p:nvSpPr>
          <p:cNvPr id="5" name="question 1 dot"/>
          <p:cNvSpPr/>
          <p:nvPr/>
        </p:nvSpPr>
        <p:spPr>
          <a:xfrm>
            <a:off x="4892767" y="2286000"/>
            <a:ext cx="457200" cy="457200"/>
          </a:xfrm>
          <a:prstGeom prst="ellipse">
            <a:avLst/>
          </a:prstGeom>
          <a:solidFill>
            <a:schemeClr val="accent1"/>
          </a:solidFill>
          <a:ln/>
        </p:spPr>
      </p:sp>
      <p:sp>
        <p:nvSpPr>
          <p:cNvPr id="6" name="question 1 num"/>
          <p:cNvSpPr txBox="1"/>
          <p:nvPr/>
        </p:nvSpPr>
        <p:spPr>
          <a:xfrm>
            <a:off x="4892767" y="228600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7" name="question 1 text"/>
          <p:cNvSpPr txBox="1"/>
          <p:nvPr/>
        </p:nvSpPr>
        <p:spPr>
          <a:xfrm>
            <a:off x="5578567" y="2240280"/>
            <a:ext cx="6064488" cy="1097280"/>
          </a:xfrm>
          <a:prstGeom prst="rect">
            <a:avLst/>
          </a:prstGeom>
          <a:noFill/>
          <a:ln/>
        </p:spPr>
        <p:txBody>
          <a:bodyPr wrap="square" lIns="0" tIns="0" rIns="0" bIns="0" rtlCol="0" anchor="t"/>
          <a:lstStyle/>
          <a:p>
            <a:pPr indent="0" marL="0">
              <a:buNone/>
            </a:pPr>
            <a:r>
              <a:rPr lang="en-US" sz="1700" b="1" dirty="0">
                <a:solidFill>
                  <a:schemeClr val="tx2"/>
                </a:solidFill>
              </a:rPr>
              <a:t>Brighter than its surroundings?</a:t>
            </a:r>
            <a:endParaRPr lang="en-US" sz="1700" dirty="0"/>
          </a:p>
          <a:p>
            <a:pPr indent="0" marL="0">
              <a:buNone/>
            </a:pPr>
            <a:r>
              <a:rPr lang="en-US" sz="1400" dirty="0">
                <a:solidFill>
                  <a:schemeClr val="tx1"/>
                </a:solidFill>
              </a:rPr>
              <a:t>Mask vs a 2–7 px ring on meanImg, meanImgE, max_proj and Vcorr; contrast vs Suite2p's neuropil mask (8 features)</a:t>
            </a:r>
            <a:endParaRPr lang="en-US" sz="1700" dirty="0"/>
          </a:p>
        </p:txBody>
      </p:sp>
      <p:sp>
        <p:nvSpPr>
          <p:cNvPr id="8" name="question 2 dot"/>
          <p:cNvSpPr/>
          <p:nvPr/>
        </p:nvSpPr>
        <p:spPr>
          <a:xfrm>
            <a:off x="4892767" y="3611880"/>
            <a:ext cx="457200" cy="457200"/>
          </a:xfrm>
          <a:prstGeom prst="ellipse">
            <a:avLst/>
          </a:prstGeom>
          <a:solidFill>
            <a:schemeClr val="accent1"/>
          </a:solidFill>
          <a:ln/>
        </p:spPr>
      </p:sp>
      <p:sp>
        <p:nvSpPr>
          <p:cNvPr id="9" name="question 2 num"/>
          <p:cNvSpPr txBox="1"/>
          <p:nvPr/>
        </p:nvSpPr>
        <p:spPr>
          <a:xfrm>
            <a:off x="4892767" y="36118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0" name="question 2 text"/>
          <p:cNvSpPr txBox="1"/>
          <p:nvPr/>
        </p:nvSpPr>
        <p:spPr>
          <a:xfrm>
            <a:off x="5578567" y="3566160"/>
            <a:ext cx="6064488" cy="1097280"/>
          </a:xfrm>
          <a:prstGeom prst="rect">
            <a:avLst/>
          </a:prstGeom>
          <a:noFill/>
          <a:ln/>
        </p:spPr>
        <p:txBody>
          <a:bodyPr wrap="square" lIns="0" tIns="0" rIns="0" bIns="0" rtlCol="0" anchor="t"/>
          <a:lstStyle/>
          <a:p>
            <a:pPr indent="0" marL="0">
              <a:buNone/>
            </a:pPr>
            <a:r>
              <a:rPr lang="en-US" sz="1700" b="1" dirty="0">
                <a:solidFill>
                  <a:schemeClr val="tx2"/>
                </a:solidFill>
              </a:rPr>
              <a:t>Does the mask match the blob?</a:t>
            </a:r>
            <a:endParaRPr lang="en-US" sz="1700" dirty="0"/>
          </a:p>
          <a:p>
            <a:pPr indent="0" marL="0">
              <a:buNone/>
            </a:pPr>
            <a:r>
              <a:rPr lang="en-US" sz="1400" dirty="0">
                <a:solidFill>
                  <a:schemeClr val="tx1"/>
                </a:solidFill>
              </a:rPr>
              <a:t>Correlation between the mask weights (lam) and the image, inside the mask and over mask + ring (8 features)</a:t>
            </a:r>
            <a:endParaRPr lang="en-US" sz="1700" dirty="0"/>
          </a:p>
        </p:txBody>
      </p:sp>
      <p:sp>
        <p:nvSpPr>
          <p:cNvPr id="11" name="question 3 dot"/>
          <p:cNvSpPr/>
          <p:nvPr/>
        </p:nvSpPr>
        <p:spPr>
          <a:xfrm>
            <a:off x="4892767" y="4937760"/>
            <a:ext cx="457200" cy="457200"/>
          </a:xfrm>
          <a:prstGeom prst="ellipse">
            <a:avLst/>
          </a:prstGeom>
          <a:solidFill>
            <a:schemeClr val="accent1"/>
          </a:solidFill>
          <a:ln/>
        </p:spPr>
      </p:sp>
      <p:sp>
        <p:nvSpPr>
          <p:cNvPr id="12" name="question 3 num"/>
          <p:cNvSpPr txBox="1"/>
          <p:nvPr/>
        </p:nvSpPr>
        <p:spPr>
          <a:xfrm>
            <a:off x="4892767" y="493776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3" name="question 3 text"/>
          <p:cNvSpPr txBox="1"/>
          <p:nvPr/>
        </p:nvSpPr>
        <p:spPr>
          <a:xfrm>
            <a:off x="5578567" y="4892040"/>
            <a:ext cx="6064488" cy="1097280"/>
          </a:xfrm>
          <a:prstGeom prst="rect">
            <a:avLst/>
          </a:prstGeom>
          <a:noFill/>
          <a:ln/>
        </p:spPr>
        <p:txBody>
          <a:bodyPr wrap="square" lIns="0" tIns="0" rIns="0" bIns="0" rtlCol="0" anchor="t"/>
          <a:lstStyle/>
          <a:p>
            <a:pPr indent="0" marL="0">
              <a:buNone/>
            </a:pPr>
            <a:r>
              <a:rPr lang="en-US" sz="1700" b="1" dirty="0">
                <a:solidFill>
                  <a:schemeClr val="tx2"/>
                </a:solidFill>
              </a:rPr>
              <a:t>Can the images be trusted?</a:t>
            </a:r>
            <a:endParaRPr lang="en-US" sz="1700" dirty="0"/>
          </a:p>
          <a:p>
            <a:pPr indent="0" marL="0">
              <a:buNone/>
            </a:pPr>
            <a:r>
              <a:rPr lang="en-US" sz="1400" dirty="0">
                <a:solidFill>
                  <a:schemeClr val="tx1"/>
                </a:solidFill>
              </a:rPr>
              <a:t>Label-free ops/stat alignment check; failing sessions fall back to the regular model</a:t>
            </a:r>
            <a:endParaRPr lang="en-US" sz="1700" dirty="0"/>
          </a:p>
        </p:txBody>
      </p:sp>
      <p:sp>
        <p:nvSpPr>
          <p:cNvPr id="14" name="crops caption"/>
          <p:cNvSpPr txBox="1"/>
          <p:nvPr/>
        </p:nvSpPr>
        <p:spPr>
          <a:xfrm>
            <a:off x="4892767" y="6035040"/>
            <a:ext cx="6750288" cy="274320"/>
          </a:xfrm>
          <a:prstGeom prst="rect">
            <a:avLst/>
          </a:prstGeom>
          <a:noFill/>
          <a:ln/>
        </p:spPr>
        <p:txBody>
          <a:bodyPr wrap="square" lIns="0" tIns="0" rIns="0" bIns="0" rtlCol="0" anchor="ctr"/>
          <a:lstStyle/>
          <a:p>
            <a:pPr indent="0" marL="0">
              <a:buNone/>
            </a:pPr>
            <a:r>
              <a:rPr lang="en-US" sz="1100" i="1" dirty="0">
                <a:solidFill>
                  <a:schemeClr val="accent4"/>
                </a:solidFill>
              </a:rPr>
              <a:t>Illustrative examples from Stav17. Green: labelled cell; red: labelled not-cell.</a:t>
            </a:r>
            <a:endParaRPr lang="en-US" sz="11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Image features add +0.026 F1, better in all 15 folds</a:t>
            </a:r>
            <a:endParaRPr lang="en-US" sz="3000" dirty="0"/>
          </a:p>
        </p:txBody>
      </p:sp>
      <p:graphicFrame>
        <p:nvGraphicFramePr>
          <p:cNvPr id="3" name="F1 by feature set chart" descr=""/>
          <p:cNvGraphicFramePr/>
          <p:nvPr/>
        </p:nvGraphicFramePr>
        <p:xfrm>
          <a:off x="548640" y="1234440"/>
          <a:ext cx="6949440" cy="4983480"/>
        </p:xfrm>
        <a:graphic xmlns:a="http://schemas.openxmlformats.org/drawingml/2006/main">
          <a:graphicData uri="http://schemas.openxmlformats.org/drawingml/2006/chart">
            <c:chart xmlns:c="http://schemas.openxmlformats.org/drawingml/2006/chart" r:id="rId1"/>
          </a:graphicData>
        </a:graphic>
      </p:graphicFrame>
      <p:sp>
        <p:nvSpPr>
          <p:cNvPr id="4" name="commentary card"/>
          <p:cNvSpPr/>
          <p:nvPr/>
        </p:nvSpPr>
        <p:spPr>
          <a:xfrm>
            <a:off x="7863840" y="1234440"/>
            <a:ext cx="3779215" cy="4983480"/>
          </a:xfrm>
          <a:prstGeom prst="roundRect">
            <a:avLst>
              <a:gd name="adj" fmla="val 2903"/>
            </a:avLst>
          </a:prstGeom>
          <a:solidFill>
            <a:schemeClr val="bg2"/>
          </a:solidFill>
          <a:ln/>
        </p:spPr>
      </p:sp>
      <p:sp>
        <p:nvSpPr>
          <p:cNvPr id="5" name="commentary text"/>
          <p:cNvSpPr txBox="1"/>
          <p:nvPr/>
        </p:nvSpPr>
        <p:spPr>
          <a:xfrm>
            <a:off x="8138160" y="1417320"/>
            <a:ext cx="3230575" cy="4617720"/>
          </a:xfrm>
          <a:prstGeom prst="rect">
            <a:avLst/>
          </a:prstGeom>
          <a:noFill/>
          <a:ln/>
        </p:spPr>
        <p:txBody>
          <a:bodyPr wrap="square" lIns="0" tIns="0" rIns="0" bIns="0" rtlCol="0" anchor="t"/>
          <a:lstStyle/>
          <a:p>
            <a:pPr indent="0" marL="0">
              <a:spcAft>
                <a:spcPts val="800"/>
              </a:spcAft>
              <a:buNone/>
            </a:pPr>
            <a:r>
              <a:rPr lang="en-US" sz="1800" b="1" dirty="0">
                <a:solidFill>
                  <a:schemeClr val="tx2"/>
                </a:solidFill>
              </a:rPr>
              <a:t>What it means</a:t>
            </a:r>
            <a:endParaRPr lang="en-US" sz="1800" dirty="0"/>
          </a:p>
          <a:p>
            <a:pPr marL="342900" indent="-342900">
              <a:spcAft>
                <a:spcPts val="600"/>
              </a:spcAft>
              <a:buSzPct val="100000"/>
              <a:buChar char="•"/>
            </a:pPr>
            <a:r>
              <a:rPr lang="en-US" sz="1500" dirty="0">
                <a:solidFill>
                  <a:schemeClr val="tx1"/>
                </a:solidFill>
              </a:rPr>
              <a:t>lam correlation carries most of it: +0.023 alone</a:t>
            </a:r>
            <a:endParaRPr lang="en-US" sz="1800" dirty="0"/>
          </a:p>
          <a:p>
            <a:pPr marL="342900" indent="-342900">
              <a:spcAft>
                <a:spcPts val="600"/>
              </a:spcAft>
              <a:buSzPct val="100000"/>
              <a:buChar char="•"/>
            </a:pPr>
            <a:r>
              <a:rPr lang="en-US" sz="1500" dirty="0">
                <a:solidFill>
                  <a:schemeClr val="tx1"/>
                </a:solidFill>
              </a:rPr>
              <a:t>Ring contrast alone: +0.015</a:t>
            </a:r>
            <a:endParaRPr lang="en-US" sz="1800" dirty="0"/>
          </a:p>
          <a:p>
            <a:pPr marL="342900" indent="-342900">
              <a:spcAft>
                <a:spcPts val="600"/>
              </a:spcAft>
              <a:buSzPct val="100000"/>
              <a:buChar char="•"/>
            </a:pPr>
            <a:r>
              <a:rPr lang="en-US" sz="1500" dirty="0">
                <a:solidFill>
                  <a:schemeClr val="tx1"/>
                </a:solidFill>
              </a:rPr>
              <a:t>Intensity-normalized trace features (dF/F, q99 / noise): no gain; the existing ones are already noise-scaled</a:t>
            </a:r>
            <a:endParaRPr lang="en-US" sz="1800" dirty="0"/>
          </a:p>
          <a:p>
            <a:pPr marL="342900" indent="-342900">
              <a:buSzPct val="100000"/>
              <a:buChar char="•"/>
            </a:pPr>
            <a:r>
              <a:rPr lang="en-US" sz="1500" dirty="0">
                <a:solidFill>
                  <a:schemeClr val="tx1"/>
                </a:solidFill>
              </a:rPr>
              <a:t>27 of 29 sessions improve</a:t>
            </a:r>
            <a:endParaRPr lang="en-US" sz="18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The biggest gains are on the hardest sessions</a:t>
            </a:r>
            <a:endParaRPr lang="en-US" sz="3000" dirty="0"/>
          </a:p>
        </p:txBody>
      </p:sp>
      <p:graphicFrame>
        <p:nvGraphicFramePr>
          <p:cNvPr id="3" name="per-session F1 chart" descr=""/>
          <p:cNvGraphicFramePr/>
          <p:nvPr/>
        </p:nvGraphicFramePr>
        <p:xfrm>
          <a:off x="548640" y="1234440"/>
          <a:ext cx="11094415" cy="4206240"/>
        </p:xfrm>
        <a:graphic xmlns:a="http://schemas.openxmlformats.org/drawingml/2006/main">
          <a:graphicData uri="http://schemas.openxmlformats.org/drawingml/2006/chart">
            <c:chart xmlns:c="http://schemas.openxmlformats.org/drawingml/2006/chart" r:id="rId1"/>
          </a:graphicData>
        </a:graphic>
      </p:graphicFrame>
      <p:sp>
        <p:nvSpPr>
          <p:cNvPr id="4" name="per-session caption"/>
          <p:cNvSpPr txBox="1"/>
          <p:nvPr/>
        </p:nvSpPr>
        <p:spPr>
          <a:xfrm>
            <a:off x="548640" y="5623560"/>
            <a:ext cx="11094415" cy="640080"/>
          </a:xfrm>
          <a:prstGeom prst="rect">
            <a:avLst/>
          </a:prstGeom>
          <a:noFill/>
          <a:ln/>
        </p:spPr>
        <p:txBody>
          <a:bodyPr wrap="square" lIns="0" tIns="0" rIns="0" bIns="0" rtlCol="0" anchor="t"/>
          <a:lstStyle/>
          <a:p>
            <a:pPr indent="0" marL="0">
              <a:buNone/>
            </a:pPr>
            <a:r>
              <a:rPr lang="en-US" sz="1500" b="1" dirty="0">
                <a:solidFill>
                  <a:schemeClr val="tx2"/>
                </a:solidFill>
              </a:rPr>
              <a:t>The 10 lowest-scoring sessions under the previous 27-feature model. </a:t>
            </a:r>
            <a:pPr indent="0" marL="0">
              <a:buNone/>
            </a:pPr>
            <a:r>
              <a:rPr lang="en-US" sz="1500" dirty="0">
                <a:solidFill>
                  <a:schemeClr val="tx1"/>
                </a:solidFill>
              </a:rPr>
              <a:t>Inbar12 goes from worst (0.685) to 0.805. Inbar3 and Stav14 stay hardest; the labelling slide explains why.</a:t>
            </a:r>
            <a:endParaRPr lang="en-US" sz="15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What the new model relies on most</a:t>
            </a:r>
            <a:endParaRPr lang="en-US" sz="3000" dirty="0"/>
          </a:p>
        </p:txBody>
      </p:sp>
      <p:graphicFrame>
        <p:nvGraphicFramePr>
          <p:cNvPr id="3" name="SHAP chart" descr=""/>
          <p:cNvGraphicFramePr/>
          <p:nvPr/>
        </p:nvGraphicFramePr>
        <p:xfrm>
          <a:off x="548640" y="1234440"/>
          <a:ext cx="7223760" cy="4983480"/>
        </p:xfrm>
        <a:graphic xmlns:a="http://schemas.openxmlformats.org/drawingml/2006/main">
          <a:graphicData uri="http://schemas.openxmlformats.org/drawingml/2006/chart">
            <c:chart xmlns:c="http://schemas.openxmlformats.org/drawingml/2006/chart" r:id="rId1"/>
          </a:graphicData>
        </a:graphic>
      </p:graphicFrame>
      <p:sp>
        <p:nvSpPr>
          <p:cNvPr id="4" name="SHAP commentary card"/>
          <p:cNvSpPr/>
          <p:nvPr/>
        </p:nvSpPr>
        <p:spPr>
          <a:xfrm>
            <a:off x="8138160" y="1234440"/>
            <a:ext cx="3504895" cy="4983480"/>
          </a:xfrm>
          <a:prstGeom prst="roundRect">
            <a:avLst>
              <a:gd name="adj" fmla="val 3131"/>
            </a:avLst>
          </a:prstGeom>
          <a:solidFill>
            <a:schemeClr val="bg2"/>
          </a:solidFill>
          <a:ln/>
        </p:spPr>
      </p:sp>
      <p:sp>
        <p:nvSpPr>
          <p:cNvPr id="5" name="SHAP commentary text"/>
          <p:cNvSpPr txBox="1"/>
          <p:nvPr/>
        </p:nvSpPr>
        <p:spPr>
          <a:xfrm>
            <a:off x="8412480" y="1417320"/>
            <a:ext cx="2956255" cy="4617720"/>
          </a:xfrm>
          <a:prstGeom prst="rect">
            <a:avLst/>
          </a:prstGeom>
          <a:noFill/>
          <a:ln/>
        </p:spPr>
        <p:txBody>
          <a:bodyPr wrap="square" lIns="0" tIns="0" rIns="0" bIns="0" rtlCol="0" anchor="t"/>
          <a:lstStyle/>
          <a:p>
            <a:pPr indent="0" marL="0">
              <a:spcAft>
                <a:spcPts val="800"/>
              </a:spcAft>
              <a:buNone/>
            </a:pPr>
            <a:r>
              <a:rPr lang="en-US" sz="1800" b="1" dirty="0">
                <a:solidFill>
                  <a:schemeClr val="tx2"/>
                </a:solidFill>
              </a:rPr>
              <a:t>Reading it</a:t>
            </a:r>
            <a:endParaRPr lang="en-US" sz="1800" dirty="0"/>
          </a:p>
          <a:p>
            <a:pPr marL="342900" indent="-342900">
              <a:spcAft>
                <a:spcPts val="600"/>
              </a:spcAft>
              <a:buSzPct val="100000"/>
              <a:buChar char="•"/>
            </a:pPr>
            <a:r>
              <a:rPr lang="en-US" sz="1500" dirty="0">
                <a:solidFill>
                  <a:schemeClr val="tx1"/>
                </a:solidFill>
              </a:rPr>
              <a:t>#1 max_proj_lam_corr: does the mask sit on something that lit up?</a:t>
            </a:r>
            <a:endParaRPr lang="en-US" sz="1800" dirty="0"/>
          </a:p>
          <a:p>
            <a:pPr marL="342900" indent="-342900">
              <a:spcAft>
                <a:spcPts val="600"/>
              </a:spcAft>
              <a:buSzPct val="100000"/>
              <a:buChar char="•"/>
            </a:pPr>
            <a:r>
              <a:rPr lang="en-US" sz="1500" dirty="0">
                <a:solidFill>
                  <a:schemeClr val="tx1"/>
                </a:solidFill>
              </a:rPr>
              <a:t>3 of the top 6 are new image features</a:t>
            </a:r>
            <a:endParaRPr lang="en-US" sz="1800" dirty="0"/>
          </a:p>
          <a:p>
            <a:pPr marL="342900" indent="-342900">
              <a:buSzPct val="100000"/>
              <a:buChar char="•"/>
            </a:pPr>
            <a:r>
              <a:rPr lang="en-US" sz="1500" dirty="0">
                <a:solidFill>
                  <a:schemeClr val="tx1"/>
                </a:solidFill>
              </a:rPr>
              <a:t>Your morphology (mrs, radius, compact) and trace features (skew, std) stay important; image features add to them rather than replace them</a:t>
            </a:r>
            <a:endParaRPr lang="en-US" sz="18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A CNN matches the image features, adds 0.007</a:t>
            </a:r>
            <a:endParaRPr lang="en-US" sz="3000" dirty="0"/>
          </a:p>
        </p:txBody>
      </p:sp>
      <p:graphicFrame>
        <p:nvGraphicFramePr>
          <p:cNvPr id="3" name="neural models chart" descr=""/>
          <p:cNvGraphicFramePr/>
          <p:nvPr/>
        </p:nvGraphicFramePr>
        <p:xfrm>
          <a:off x="548640" y="1234440"/>
          <a:ext cx="6949440" cy="4983480"/>
        </p:xfrm>
        <a:graphic xmlns:a="http://schemas.openxmlformats.org/drawingml/2006/main">
          <a:graphicData uri="http://schemas.openxmlformats.org/drawingml/2006/chart">
            <c:chart xmlns:c="http://schemas.openxmlformats.org/drawingml/2006/chart" r:id="rId1"/>
          </a:graphicData>
        </a:graphic>
      </p:graphicFrame>
      <p:sp>
        <p:nvSpPr>
          <p:cNvPr id="4" name="neural commentary card"/>
          <p:cNvSpPr/>
          <p:nvPr/>
        </p:nvSpPr>
        <p:spPr>
          <a:xfrm>
            <a:off x="7863840" y="1234440"/>
            <a:ext cx="3779215" cy="4983480"/>
          </a:xfrm>
          <a:prstGeom prst="roundRect">
            <a:avLst>
              <a:gd name="adj" fmla="val 2903"/>
            </a:avLst>
          </a:prstGeom>
          <a:solidFill>
            <a:schemeClr val="bg2"/>
          </a:solidFill>
          <a:ln/>
        </p:spPr>
      </p:sp>
      <p:sp>
        <p:nvSpPr>
          <p:cNvPr id="5" name="neural commentary text"/>
          <p:cNvSpPr txBox="1"/>
          <p:nvPr/>
        </p:nvSpPr>
        <p:spPr>
          <a:xfrm>
            <a:off x="8138160" y="1417320"/>
            <a:ext cx="3230575" cy="4617720"/>
          </a:xfrm>
          <a:prstGeom prst="rect">
            <a:avLst/>
          </a:prstGeom>
          <a:noFill/>
          <a:ln/>
        </p:spPr>
        <p:txBody>
          <a:bodyPr wrap="square" lIns="0" tIns="0" rIns="0" bIns="0" rtlCol="0" anchor="t"/>
          <a:lstStyle/>
          <a:p>
            <a:pPr indent="0" marL="0">
              <a:spcAft>
                <a:spcPts val="800"/>
              </a:spcAft>
              <a:buNone/>
            </a:pPr>
            <a:r>
              <a:rPr lang="en-US" sz="1800" b="1" dirty="0">
                <a:solidFill>
                  <a:schemeClr val="tx2"/>
                </a:solidFill>
              </a:rPr>
              <a:t>What it means</a:t>
            </a:r>
            <a:endParaRPr lang="en-US" sz="1800" dirty="0"/>
          </a:p>
          <a:p>
            <a:pPr marL="342900" indent="-342900">
              <a:spcAft>
                <a:spcPts val="600"/>
              </a:spcAft>
              <a:buSzPct val="100000"/>
              <a:buChar char="•"/>
            </a:pPr>
            <a:r>
              <a:rPr lang="en-US" sz="1500" dirty="0">
                <a:solidFill>
                  <a:schemeClr val="tx1"/>
                </a:solidFill>
              </a:rPr>
              <a:t>The CNN learns about what the 17 image features already capture</a:t>
            </a:r>
            <a:endParaRPr lang="en-US" sz="1800" dirty="0"/>
          </a:p>
          <a:p>
            <a:pPr marL="342900" indent="-342900">
              <a:spcAft>
                <a:spcPts val="600"/>
              </a:spcAft>
              <a:buSzPct val="100000"/>
              <a:buChar char="•"/>
            </a:pPr>
            <a:r>
              <a:rPr lang="en-US" sz="1500" dirty="0">
                <a:solidFill>
                  <a:schemeClr val="tx1"/>
                </a:solidFill>
              </a:rPr>
              <a:t>Training images and features jointly (fusion) is the best single model, 0.858</a:t>
            </a:r>
            <a:endParaRPr lang="en-US" sz="1800" dirty="0"/>
          </a:p>
          <a:p>
            <a:pPr marL="342900" indent="-342900">
              <a:spcAft>
                <a:spcPts val="600"/>
              </a:spcAft>
              <a:buSzPct val="100000"/>
              <a:buChar char="•"/>
            </a:pPr>
            <a:r>
              <a:rPr lang="en-US" sz="1500" dirty="0">
                <a:solidFill>
                  <a:schemeClr val="tx1"/>
                </a:solidFill>
              </a:rPr>
              <a:t>Embedding or score on top: +0.007–0.008, a tie between the two</a:t>
            </a:r>
            <a:endParaRPr lang="en-US" sz="1800" dirty="0"/>
          </a:p>
          <a:p>
            <a:pPr marL="342900" indent="-342900">
              <a:buSzPct val="100000"/>
              <a:buChar char="•"/>
            </a:pPr>
            <a:r>
              <a:rPr lang="en-US" sz="1500" dirty="0">
                <a:solidFill>
                  <a:schemeClr val="tx1"/>
                </a:solidFill>
              </a:rPr>
              <a:t>Cost: crops and a PyTorch model at inference, and a less explainable decision</a:t>
            </a:r>
            <a:endParaRPr lang="en-US" sz="18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Learned trace embeddings and other models didn't help</a:t>
            </a:r>
            <a:endParaRPr lang="en-US" sz="3000" dirty="0"/>
          </a:p>
        </p:txBody>
      </p:sp>
      <p:graphicFrame>
        <p:nvGraphicFramePr>
          <p:cNvPr id="3" name="did not help chart" descr=""/>
          <p:cNvGraphicFramePr/>
          <p:nvPr/>
        </p:nvGraphicFramePr>
        <p:xfrm>
          <a:off x="548640" y="1234440"/>
          <a:ext cx="7589520" cy="4983480"/>
        </p:xfrm>
        <a:graphic xmlns:a="http://schemas.openxmlformats.org/drawingml/2006/main">
          <a:graphicData uri="http://schemas.openxmlformats.org/drawingml/2006/chart">
            <c:chart xmlns:c="http://schemas.openxmlformats.org/drawingml/2006/chart" r:id="rId1"/>
          </a:graphicData>
        </a:graphic>
      </p:graphicFrame>
      <p:sp>
        <p:nvSpPr>
          <p:cNvPr id="4" name="did not help card"/>
          <p:cNvSpPr/>
          <p:nvPr/>
        </p:nvSpPr>
        <p:spPr>
          <a:xfrm>
            <a:off x="8503920" y="1234440"/>
            <a:ext cx="3139135" cy="4983480"/>
          </a:xfrm>
          <a:prstGeom prst="roundRect">
            <a:avLst>
              <a:gd name="adj" fmla="val 3495"/>
            </a:avLst>
          </a:prstGeom>
          <a:solidFill>
            <a:schemeClr val="bg2"/>
          </a:solidFill>
          <a:ln/>
        </p:spPr>
      </p:sp>
      <p:sp>
        <p:nvSpPr>
          <p:cNvPr id="5" name="did not help text"/>
          <p:cNvSpPr txBox="1"/>
          <p:nvPr/>
        </p:nvSpPr>
        <p:spPr>
          <a:xfrm>
            <a:off x="8778240" y="1417320"/>
            <a:ext cx="2590495" cy="4617720"/>
          </a:xfrm>
          <a:prstGeom prst="rect">
            <a:avLst/>
          </a:prstGeom>
          <a:noFill/>
          <a:ln/>
        </p:spPr>
        <p:txBody>
          <a:bodyPr wrap="square" lIns="0" tIns="0" rIns="0" bIns="0" rtlCol="0" anchor="t"/>
          <a:lstStyle/>
          <a:p>
            <a:pPr indent="0" marL="0">
              <a:spcAft>
                <a:spcPts val="800"/>
              </a:spcAft>
              <a:buNone/>
            </a:pPr>
            <a:r>
              <a:rPr lang="en-US" sz="1800" b="1" dirty="0">
                <a:solidFill>
                  <a:schemeClr val="tx2"/>
                </a:solidFill>
              </a:rPr>
              <a:t>Take-aways</a:t>
            </a:r>
            <a:endParaRPr lang="en-US" sz="1800" dirty="0"/>
          </a:p>
          <a:p>
            <a:pPr marL="342900" indent="-342900">
              <a:spcAft>
                <a:spcPts val="600"/>
              </a:spcAft>
              <a:buSzPct val="100000"/>
              <a:buChar char="•"/>
            </a:pPr>
            <a:r>
              <a:rPr lang="en-US" sz="1500" dirty="0">
                <a:solidFill>
                  <a:schemeClr val="tx1"/>
                </a:solidFill>
              </a:rPr>
              <a:t>Your hand-made trace features beat both learned trace encoders</a:t>
            </a:r>
            <a:endParaRPr lang="en-US" sz="1800" dirty="0"/>
          </a:p>
          <a:p>
            <a:pPr marL="342900" indent="-342900">
              <a:spcAft>
                <a:spcPts val="600"/>
              </a:spcAft>
              <a:buSzPct val="100000"/>
              <a:buChar char="•"/>
            </a:pPr>
            <a:r>
              <a:rPr lang="en-US" sz="1500" dirty="0">
                <a:solidFill>
                  <a:schemeClr val="tx1"/>
                </a:solidFill>
              </a:rPr>
              <a:t>Model family is worth about ±0.003: keep LightGBM</a:t>
            </a:r>
            <a:endParaRPr lang="en-US" sz="1800" dirty="0"/>
          </a:p>
          <a:p>
            <a:pPr marL="342900" indent="-342900">
              <a:buSzPct val="100000"/>
              <a:buChar char="•"/>
            </a:pPr>
            <a:r>
              <a:rPr lang="en-US" sz="1500" dirty="0">
                <a:solidFill>
                  <a:schemeClr val="tx1"/>
                </a:solidFill>
              </a:rPr>
              <a:t>A lightly tuned LightGBM (real row bagging) is a free +0.002</a:t>
            </a:r>
            <a:endParaRPr lang="en-US" sz="18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The labeller matters: own-lab training fits best</a:t>
            </a:r>
            <a:endParaRPr lang="en-US" sz="3000" dirty="0"/>
          </a:p>
        </p:txBody>
      </p:sp>
      <p:graphicFrame>
        <p:nvGraphicFramePr>
          <p:cNvPr id="3" name="own-lab advantage chart" descr=""/>
          <p:cNvGraphicFramePr/>
          <p:nvPr/>
        </p:nvGraphicFramePr>
        <p:xfrm>
          <a:off x="548640" y="1234440"/>
          <a:ext cx="6949440" cy="4983480"/>
        </p:xfrm>
        <a:graphic xmlns:a="http://schemas.openxmlformats.org/drawingml/2006/main">
          <a:graphicData uri="http://schemas.openxmlformats.org/drawingml/2006/chart">
            <c:chart xmlns:c="http://schemas.openxmlformats.org/drawingml/2006/chart" r:id="rId1"/>
          </a:graphicData>
        </a:graphic>
      </p:graphicFrame>
      <p:sp>
        <p:nvSpPr>
          <p:cNvPr id="4" name="labeller commentary card"/>
          <p:cNvSpPr/>
          <p:nvPr/>
        </p:nvSpPr>
        <p:spPr>
          <a:xfrm>
            <a:off x="7863840" y="1234440"/>
            <a:ext cx="3779215" cy="4983480"/>
          </a:xfrm>
          <a:prstGeom prst="roundRect">
            <a:avLst>
              <a:gd name="adj" fmla="val 2903"/>
            </a:avLst>
          </a:prstGeom>
          <a:solidFill>
            <a:schemeClr val="bg2"/>
          </a:solidFill>
          <a:ln/>
        </p:spPr>
      </p:sp>
      <p:sp>
        <p:nvSpPr>
          <p:cNvPr id="5" name="labeller commentary text"/>
          <p:cNvSpPr txBox="1"/>
          <p:nvPr/>
        </p:nvSpPr>
        <p:spPr>
          <a:xfrm>
            <a:off x="8138160" y="1417320"/>
            <a:ext cx="3230575" cy="4617720"/>
          </a:xfrm>
          <a:prstGeom prst="rect">
            <a:avLst/>
          </a:prstGeom>
          <a:noFill/>
          <a:ln/>
        </p:spPr>
        <p:txBody>
          <a:bodyPr wrap="square" lIns="0" tIns="0" rIns="0" bIns="0" rtlCol="0" anchor="t"/>
          <a:lstStyle/>
          <a:p>
            <a:pPr indent="0" marL="0">
              <a:spcAft>
                <a:spcPts val="800"/>
              </a:spcAft>
              <a:buNone/>
            </a:pPr>
            <a:r>
              <a:rPr lang="en-US" sz="1800" b="1" dirty="0">
                <a:solidFill>
                  <a:schemeClr val="tx2"/>
                </a:solidFill>
              </a:rPr>
              <a:t>What we found</a:t>
            </a:r>
            <a:endParaRPr lang="en-US" sz="1800" dirty="0"/>
          </a:p>
          <a:p>
            <a:pPr marL="342900" indent="-342900">
              <a:spcAft>
                <a:spcPts val="600"/>
              </a:spcAft>
              <a:buSzPct val="100000"/>
              <a:buChar char="•"/>
            </a:pPr>
            <a:r>
              <a:rPr lang="en-US" sz="1500" dirty="0">
                <a:solidFill>
                  <a:schemeClr val="tx1"/>
                </a:solidFill>
              </a:rPr>
              <a:t>Stav's sessions: a Stav-trained model wins in 4 of 4 tests (+0.014 to +0.031)</a:t>
            </a:r>
            <a:endParaRPr lang="en-US" sz="1800" dirty="0"/>
          </a:p>
          <a:p>
            <a:pPr marL="342900" indent="-342900">
              <a:spcAft>
                <a:spcPts val="600"/>
              </a:spcAft>
              <a:buSzPct val="100000"/>
              <a:buChar char="•"/>
            </a:pPr>
            <a:r>
              <a:rPr lang="en-US" sz="1500" dirty="0">
                <a:solidFill>
                  <a:schemeClr val="tx1"/>
                </a:solidFill>
              </a:rPr>
              <a:t>Inbar's sessions: an Inbar-trained model wins clearly on the hardest ones (+0.041)</a:t>
            </a:r>
            <a:endParaRPr lang="en-US" sz="1800" dirty="0"/>
          </a:p>
          <a:p>
            <a:pPr marL="342900" indent="-342900">
              <a:buSzPct val="100000"/>
              <a:buChar char="•"/>
            </a:pPr>
            <a:r>
              <a:rPr lang="en-US" sz="1500" dirty="0">
                <a:solidFill>
                  <a:schemeClr val="tx1"/>
                </a:solidFill>
              </a:rPr>
              <a:t>On typical Inbar sessions it only ties, with half the training data (8 sessions vs 17)</a:t>
            </a:r>
            <a:endParaRPr lang="en-US" sz="18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How we tested it: train on one lab, test on another</a:t>
            </a:r>
            <a:endParaRPr lang="en-US" sz="3000" dirty="0"/>
          </a:p>
        </p:txBody>
      </p:sp>
      <p:sp>
        <p:nvSpPr>
          <p:cNvPr id="3" name="experiment 1 card"/>
          <p:cNvSpPr/>
          <p:nvPr/>
        </p:nvSpPr>
        <p:spPr>
          <a:xfrm>
            <a:off x="548640" y="1325880"/>
            <a:ext cx="3515258" cy="3017520"/>
          </a:xfrm>
          <a:prstGeom prst="roundRect">
            <a:avLst>
              <a:gd name="adj" fmla="val 3636"/>
            </a:avLst>
          </a:prstGeom>
          <a:solidFill>
            <a:schemeClr val="bg2"/>
          </a:solidFill>
          <a:ln/>
        </p:spPr>
      </p:sp>
      <p:sp>
        <p:nvSpPr>
          <p:cNvPr id="4" name="experiment 1 dot"/>
          <p:cNvSpPr/>
          <p:nvPr/>
        </p:nvSpPr>
        <p:spPr>
          <a:xfrm>
            <a:off x="822960" y="1554480"/>
            <a:ext cx="502920" cy="502920"/>
          </a:xfrm>
          <a:prstGeom prst="ellipse">
            <a:avLst/>
          </a:prstGeom>
          <a:solidFill>
            <a:schemeClr val="accent2"/>
          </a:solidFill>
          <a:ln/>
        </p:spPr>
      </p:sp>
      <p:sp>
        <p:nvSpPr>
          <p:cNvPr id="5" name="experiment 1 num"/>
          <p:cNvSpPr txBox="1"/>
          <p:nvPr/>
        </p:nvSpPr>
        <p:spPr>
          <a:xfrm>
            <a:off x="822960" y="1554480"/>
            <a:ext cx="502920" cy="502920"/>
          </a:xfrm>
          <a:prstGeom prst="rect">
            <a:avLst/>
          </a:prstGeom>
          <a:noFill/>
          <a:ln/>
        </p:spPr>
        <p:txBody>
          <a:bodyPr wrap="square" lIns="0" tIns="0" rIns="0" bIns="0" rtlCol="0" anchor="ctr"/>
          <a:lstStyle/>
          <a:p>
            <a:pPr algn="ctr" indent="0" marL="0">
              <a:buNone/>
            </a:pPr>
            <a:r>
              <a:rPr lang="en-US" sz="1700" b="1" dirty="0">
                <a:solidFill>
                  <a:schemeClr val="bg1"/>
                </a:solidFill>
              </a:rPr>
              <a:t>1</a:t>
            </a:r>
            <a:endParaRPr lang="en-US" sz="1700" dirty="0"/>
          </a:p>
        </p:txBody>
      </p:sp>
      <p:sp>
        <p:nvSpPr>
          <p:cNvPr id="6" name="experiment 1 text"/>
          <p:cNvSpPr txBox="1"/>
          <p:nvPr/>
        </p:nvSpPr>
        <p:spPr>
          <a:xfrm>
            <a:off x="822960" y="2240280"/>
            <a:ext cx="2966618" cy="2011680"/>
          </a:xfrm>
          <a:prstGeom prst="rect">
            <a:avLst/>
          </a:prstGeom>
          <a:noFill/>
          <a:ln/>
        </p:spPr>
        <p:txBody>
          <a:bodyPr wrap="square" lIns="0" tIns="0" rIns="0" bIns="0" rtlCol="0" anchor="t"/>
          <a:lstStyle/>
          <a:p>
            <a:pPr indent="0" marL="0">
              <a:spcAft>
                <a:spcPts val="600"/>
              </a:spcAft>
              <a:buNone/>
            </a:pPr>
            <a:r>
              <a:rPr lang="en-US" sz="1700" b="1" dirty="0">
                <a:solidFill>
                  <a:schemeClr val="tx2"/>
                </a:solidFill>
              </a:rPr>
              <a:t>Hardest sessions, both labs</a:t>
            </a:r>
            <a:endParaRPr lang="en-US" sz="1700" dirty="0"/>
          </a:p>
          <a:p>
            <a:pPr indent="0" marL="0">
              <a:buNone/>
            </a:pPr>
            <a:r>
              <a:rPr lang="en-US" sz="1500" dirty="0">
                <a:solidFill>
                  <a:schemeClr val="tx1"/>
                </a:solidFill>
              </a:rPr>
              <a:t>Hold out the 4 lowest-scoring sessions of one lab. Train on: that lab only, the other lab only, both, and both with labs weighted equally.</a:t>
            </a:r>
            <a:endParaRPr lang="en-US" sz="1700" dirty="0"/>
          </a:p>
        </p:txBody>
      </p:sp>
      <p:sp>
        <p:nvSpPr>
          <p:cNvPr id="7" name="experiment 2 card"/>
          <p:cNvSpPr/>
          <p:nvPr/>
        </p:nvSpPr>
        <p:spPr>
          <a:xfrm>
            <a:off x="4338218" y="1325880"/>
            <a:ext cx="3515258" cy="3017520"/>
          </a:xfrm>
          <a:prstGeom prst="roundRect">
            <a:avLst>
              <a:gd name="adj" fmla="val 3636"/>
            </a:avLst>
          </a:prstGeom>
          <a:solidFill>
            <a:schemeClr val="bg2"/>
          </a:solidFill>
          <a:ln/>
        </p:spPr>
      </p:sp>
      <p:sp>
        <p:nvSpPr>
          <p:cNvPr id="8" name="experiment 2 dot"/>
          <p:cNvSpPr/>
          <p:nvPr/>
        </p:nvSpPr>
        <p:spPr>
          <a:xfrm>
            <a:off x="4612538" y="1554480"/>
            <a:ext cx="502920" cy="502920"/>
          </a:xfrm>
          <a:prstGeom prst="ellipse">
            <a:avLst/>
          </a:prstGeom>
          <a:solidFill>
            <a:schemeClr val="accent2"/>
          </a:solidFill>
          <a:ln/>
        </p:spPr>
      </p:sp>
      <p:sp>
        <p:nvSpPr>
          <p:cNvPr id="9" name="experiment 2 num"/>
          <p:cNvSpPr txBox="1"/>
          <p:nvPr/>
        </p:nvSpPr>
        <p:spPr>
          <a:xfrm>
            <a:off x="4612538" y="1554480"/>
            <a:ext cx="502920" cy="502920"/>
          </a:xfrm>
          <a:prstGeom prst="rect">
            <a:avLst/>
          </a:prstGeom>
          <a:noFill/>
          <a:ln/>
        </p:spPr>
        <p:txBody>
          <a:bodyPr wrap="square" lIns="0" tIns="0" rIns="0" bIns="0" rtlCol="0" anchor="ctr"/>
          <a:lstStyle/>
          <a:p>
            <a:pPr algn="ctr" indent="0" marL="0">
              <a:buNone/>
            </a:pPr>
            <a:r>
              <a:rPr lang="en-US" sz="1700" b="1" dirty="0">
                <a:solidFill>
                  <a:schemeClr val="bg1"/>
                </a:solidFill>
              </a:rPr>
              <a:t>2</a:t>
            </a:r>
            <a:endParaRPr lang="en-US" sz="1700" dirty="0"/>
          </a:p>
        </p:txBody>
      </p:sp>
      <p:sp>
        <p:nvSpPr>
          <p:cNvPr id="10" name="experiment 2 text"/>
          <p:cNvSpPr txBox="1"/>
          <p:nvPr/>
        </p:nvSpPr>
        <p:spPr>
          <a:xfrm>
            <a:off x="4612538" y="2240280"/>
            <a:ext cx="2966618" cy="2011680"/>
          </a:xfrm>
          <a:prstGeom prst="rect">
            <a:avLst/>
          </a:prstGeom>
          <a:noFill/>
          <a:ln/>
        </p:spPr>
        <p:txBody>
          <a:bodyPr wrap="square" lIns="0" tIns="0" rIns="0" bIns="0" rtlCol="0" anchor="t"/>
          <a:lstStyle/>
          <a:p>
            <a:pPr indent="0" marL="0">
              <a:spcAft>
                <a:spcPts val="600"/>
              </a:spcAft>
              <a:buNone/>
            </a:pPr>
            <a:r>
              <a:rPr lang="en-US" sz="1700" b="1" dirty="0">
                <a:solidFill>
                  <a:schemeClr val="tx2"/>
                </a:solidFill>
              </a:rPr>
              <a:t>Random sessions, both labs</a:t>
            </a:r>
            <a:endParaRPr lang="en-US" sz="1700" dirty="0"/>
          </a:p>
          <a:p>
            <a:pPr indent="0" marL="0">
              <a:buNone/>
            </a:pPr>
            <a:r>
              <a:rPr lang="en-US" sz="1500" dirty="0">
                <a:solidFill>
                  <a:schemeClr val="tx1"/>
                </a:solidFill>
              </a:rPr>
              <a:t>Repeat with 3 random draws of 4 held-out sessions per lab, so the result can't come from picking hard sessions.</a:t>
            </a:r>
            <a:endParaRPr lang="en-US" sz="1700" dirty="0"/>
          </a:p>
        </p:txBody>
      </p:sp>
      <p:sp>
        <p:nvSpPr>
          <p:cNvPr id="11" name="experiment 3 card"/>
          <p:cNvSpPr/>
          <p:nvPr/>
        </p:nvSpPr>
        <p:spPr>
          <a:xfrm>
            <a:off x="8127797" y="1325880"/>
            <a:ext cx="3515258" cy="3017520"/>
          </a:xfrm>
          <a:prstGeom prst="roundRect">
            <a:avLst>
              <a:gd name="adj" fmla="val 3636"/>
            </a:avLst>
          </a:prstGeom>
          <a:solidFill>
            <a:schemeClr val="bg2"/>
          </a:solidFill>
          <a:ln/>
        </p:spPr>
      </p:sp>
      <p:sp>
        <p:nvSpPr>
          <p:cNvPr id="12" name="experiment 3 dot"/>
          <p:cNvSpPr/>
          <p:nvPr/>
        </p:nvSpPr>
        <p:spPr>
          <a:xfrm>
            <a:off x="8402117" y="1554480"/>
            <a:ext cx="502920" cy="502920"/>
          </a:xfrm>
          <a:prstGeom prst="ellipse">
            <a:avLst/>
          </a:prstGeom>
          <a:solidFill>
            <a:schemeClr val="accent2"/>
          </a:solidFill>
          <a:ln/>
        </p:spPr>
      </p:sp>
      <p:sp>
        <p:nvSpPr>
          <p:cNvPr id="13" name="experiment 3 num"/>
          <p:cNvSpPr txBox="1"/>
          <p:nvPr/>
        </p:nvSpPr>
        <p:spPr>
          <a:xfrm>
            <a:off x="8402117" y="1554480"/>
            <a:ext cx="502920" cy="502920"/>
          </a:xfrm>
          <a:prstGeom prst="rect">
            <a:avLst/>
          </a:prstGeom>
          <a:noFill/>
          <a:ln/>
        </p:spPr>
        <p:txBody>
          <a:bodyPr wrap="square" lIns="0" tIns="0" rIns="0" bIns="0" rtlCol="0" anchor="ctr"/>
          <a:lstStyle/>
          <a:p>
            <a:pPr algn="ctr" indent="0" marL="0">
              <a:buNone/>
            </a:pPr>
            <a:r>
              <a:rPr lang="en-US" sz="1700" b="1" dirty="0">
                <a:solidFill>
                  <a:schemeClr val="bg1"/>
                </a:solidFill>
              </a:rPr>
              <a:t>3</a:t>
            </a:r>
            <a:endParaRPr lang="en-US" sz="1700" dirty="0"/>
          </a:p>
        </p:txBody>
      </p:sp>
      <p:sp>
        <p:nvSpPr>
          <p:cNvPr id="14" name="experiment 3 text"/>
          <p:cNvSpPr txBox="1"/>
          <p:nvPr/>
        </p:nvSpPr>
        <p:spPr>
          <a:xfrm>
            <a:off x="8402117" y="2240280"/>
            <a:ext cx="2966618" cy="2011680"/>
          </a:xfrm>
          <a:prstGeom prst="rect">
            <a:avLst/>
          </a:prstGeom>
          <a:noFill/>
          <a:ln/>
        </p:spPr>
        <p:txBody>
          <a:bodyPr wrap="square" lIns="0" tIns="0" rIns="0" bIns="0" rtlCol="0" anchor="t"/>
          <a:lstStyle/>
          <a:p>
            <a:pPr indent="0" marL="0">
              <a:spcAft>
                <a:spcPts val="600"/>
              </a:spcAft>
              <a:buNone/>
            </a:pPr>
            <a:r>
              <a:rPr lang="en-US" sz="1700" b="1" dirty="0">
                <a:solidFill>
                  <a:schemeClr val="tx2"/>
                </a:solidFill>
              </a:rPr>
              <a:t>Threshold and label rate</a:t>
            </a:r>
            <a:endParaRPr lang="en-US" sz="1700" dirty="0"/>
          </a:p>
          <a:p>
            <a:pPr indent="0" marL="0">
              <a:buNone/>
            </a:pPr>
            <a:r>
              <a:rPr lang="en-US" sz="1500" dirty="0">
                <a:solidFill>
                  <a:schemeClr val="tx1"/>
                </a:solidFill>
              </a:rPr>
              <a:t>For each held-out session, compare F1 at the trained threshold with F1 at that session's own best threshold, and predicted vs labelled cell rate.</a:t>
            </a:r>
            <a:endParaRPr lang="en-US" sz="1700" dirty="0"/>
          </a:p>
        </p:txBody>
      </p:sp>
      <p:sp>
        <p:nvSpPr>
          <p:cNvPr id="15" name="rules card"/>
          <p:cNvSpPr/>
          <p:nvPr/>
        </p:nvSpPr>
        <p:spPr>
          <a:xfrm>
            <a:off x="548640" y="4617720"/>
            <a:ext cx="11094415" cy="1508760"/>
          </a:xfrm>
          <a:prstGeom prst="roundRect">
            <a:avLst>
              <a:gd name="adj" fmla="val 7273"/>
            </a:avLst>
          </a:prstGeom>
          <a:solidFill>
            <a:schemeClr val="bg2"/>
          </a:solidFill>
          <a:ln/>
        </p:spPr>
      </p:sp>
      <p:sp>
        <p:nvSpPr>
          <p:cNvPr id="16" name="rules text"/>
          <p:cNvSpPr txBox="1"/>
          <p:nvPr/>
        </p:nvSpPr>
        <p:spPr>
          <a:xfrm>
            <a:off x="822960" y="4754880"/>
            <a:ext cx="10545775" cy="128016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Kept fixed in every experiment</a:t>
            </a:r>
            <a:endParaRPr lang="en-US" sz="1600" dirty="0"/>
          </a:p>
          <a:p>
            <a:pPr marL="342900" indent="-342900">
              <a:buSzPct val="100000"/>
              <a:buChar char="•"/>
            </a:pPr>
            <a:r>
              <a:rPr lang="en-US" sz="1500" dirty="0">
                <a:solidFill>
                  <a:schemeClr val="tx1"/>
                </a:solidFill>
              </a:rPr>
              <a:t>Same 44 features and LightGBM settings as the shipped model</a:t>
            </a:r>
            <a:endParaRPr lang="en-US" sz="1600" dirty="0"/>
          </a:p>
          <a:p>
            <a:pPr marL="342900" indent="-342900">
              <a:buSzPct val="100000"/>
              <a:buChar char="•"/>
            </a:pPr>
            <a:r>
              <a:rPr lang="en-US" sz="1500" dirty="0">
                <a:solidFill>
                  <a:schemeClr val="tx1"/>
                </a:solidFill>
              </a:rPr>
              <a:t>Threshold and number of trees chosen on the training sessions only; test sessions are never seen in training</a:t>
            </a:r>
            <a:endParaRPr lang="en-US" sz="16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All eight experiments, F1 on the held-out sessions</a:t>
            </a:r>
            <a:endParaRPr lang="en-US" sz="3000" dirty="0"/>
          </a:p>
        </p:txBody>
      </p:sp>
      <p:graphicFrame>
        <p:nvGraphicFramePr>
          <p:cNvPr id="14" name="labeller results table"/>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4770599"/>
                <a:gridCol w="2107939"/>
                <a:gridCol w="2107939"/>
                <a:gridCol w="2107939"/>
              </a:tblGrid>
              <a:tr h="384048">
                <a:tc>
                  <a:txBody>
                    <a:bodyPr/>
                    <a:lstStyle/>
                    <a:p>
                      <a:pPr indent="0" marL="0">
                        <a:buNone/>
                      </a:pPr>
                      <a:r>
                        <a:rPr lang="en-US" sz="1400" b="1" dirty="0">
                          <a:solidFill>
                            <a:schemeClr val="bg1"/>
                          </a:solidFill>
                        </a:rPr>
                        <a:t>Held-out sessions</a:t>
                      </a:r>
                      <a:endParaRPr lang="en-US" sz="1400" dirty="0"/>
                    </a:p>
                  </a:txBody>
                  <a:tcPr marL="91440" marR="91440" marT="45720" marB="45720">
                    <a:lnL w="6350" cap="flat" cmpd="sng" algn="ctr">
                      <a:solidFill>
                        <a:srgbClr val="DDE5E4"/>
                      </a:solidFill>
                      <a:prstDash val="solid"/>
                      <a:round/>
                      <a:headEnd type="none" w="med" len="med"/>
                      <a:tailEnd type="none" w="med" len="med"/>
                    </a:lnL>
                    <a:lnR w="6350" cap="flat" cmpd="sng" algn="ctr">
                      <a:solidFill>
                        <a:srgbClr val="DDE5E4"/>
                      </a:solidFill>
                      <a:prstDash val="solid"/>
                      <a:round/>
                      <a:headEnd type="none" w="med" len="med"/>
                      <a:tailEnd type="none" w="med" len="med"/>
                    </a:lnR>
                    <a:lnT w="6350" cap="flat" cmpd="sng" algn="ctr">
                      <a:solidFill>
                        <a:srgbClr val="DDE5E4"/>
                      </a:solidFill>
                      <a:prstDash val="solid"/>
                      <a:round/>
                      <a:headEnd type="none" w="med" len="med"/>
                      <a:tailEnd type="none" w="med" len="med"/>
                    </a:lnT>
                    <a:lnB w="6350" cap="flat" cmpd="sng" algn="ctr">
                      <a:solidFill>
                        <a:srgbClr val="DDE5E4"/>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Trained on Stav</a:t>
                      </a:r>
                      <a:endParaRPr lang="en-US" sz="1400" dirty="0"/>
                    </a:p>
                  </a:txBody>
                  <a:tcPr marL="91440" marR="91440" marT="45720" marB="45720">
                    <a:lnL w="6350" cap="flat" cmpd="sng" algn="ctr">
                      <a:solidFill>
                        <a:srgbClr val="DDE5E4"/>
                      </a:solidFill>
                      <a:prstDash val="solid"/>
                      <a:round/>
                      <a:headEnd type="none" w="med" len="med"/>
                      <a:tailEnd type="none" w="med" len="med"/>
                    </a:lnL>
                    <a:lnR w="6350" cap="flat" cmpd="sng" algn="ctr">
                      <a:solidFill>
                        <a:srgbClr val="DDE5E4"/>
                      </a:solidFill>
                      <a:prstDash val="solid"/>
                      <a:round/>
                      <a:headEnd type="none" w="med" len="med"/>
                      <a:tailEnd type="none" w="med" len="med"/>
                    </a:lnR>
                    <a:lnT w="6350" cap="flat" cmpd="sng" algn="ctr">
                      <a:solidFill>
                        <a:srgbClr val="DDE5E4"/>
                      </a:solidFill>
                      <a:prstDash val="solid"/>
                      <a:round/>
                      <a:headEnd type="none" w="med" len="med"/>
                      <a:tailEnd type="none" w="med" len="med"/>
                    </a:lnT>
                    <a:lnB w="6350" cap="flat" cmpd="sng" algn="ctr">
                      <a:solidFill>
                        <a:srgbClr val="DDE5E4"/>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Trained on Inbar</a:t>
                      </a:r>
                      <a:endParaRPr lang="en-US" sz="1400" dirty="0"/>
                    </a:p>
                  </a:txBody>
                  <a:tcPr marL="91440" marR="91440" marT="45720" marB="45720">
                    <a:lnL w="6350" cap="flat" cmpd="sng" algn="ctr">
                      <a:solidFill>
                        <a:srgbClr val="DDE5E4"/>
                      </a:solidFill>
                      <a:prstDash val="solid"/>
                      <a:round/>
                      <a:headEnd type="none" w="med" len="med"/>
                      <a:tailEnd type="none" w="med" len="med"/>
                    </a:lnL>
                    <a:lnR w="6350" cap="flat" cmpd="sng" algn="ctr">
                      <a:solidFill>
                        <a:srgbClr val="DDE5E4"/>
                      </a:solidFill>
                      <a:prstDash val="solid"/>
                      <a:round/>
                      <a:headEnd type="none" w="med" len="med"/>
                      <a:tailEnd type="none" w="med" len="med"/>
                    </a:lnR>
                    <a:lnT w="6350" cap="flat" cmpd="sng" algn="ctr">
                      <a:solidFill>
                        <a:srgbClr val="DDE5E4"/>
                      </a:solidFill>
                      <a:prstDash val="solid"/>
                      <a:round/>
                      <a:headEnd type="none" w="med" len="med"/>
                      <a:tailEnd type="none" w="med" len="med"/>
                    </a:lnT>
                    <a:lnB w="6350" cap="flat" cmpd="sng" algn="ctr">
                      <a:solidFill>
                        <a:srgbClr val="DDE5E4"/>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Own-lab advantage</a:t>
                      </a:r>
                      <a:endParaRPr lang="en-US" sz="1400" dirty="0"/>
                    </a:p>
                  </a:txBody>
                  <a:tcPr marL="91440" marR="91440" marT="45720" marB="45720">
                    <a:lnL w="6350" cap="flat" cmpd="sng" algn="ctr">
                      <a:solidFill>
                        <a:srgbClr val="DDE5E4"/>
                      </a:solidFill>
                      <a:prstDash val="solid"/>
                      <a:round/>
                      <a:headEnd type="none" w="med" len="med"/>
                      <a:tailEnd type="none" w="med" len="med"/>
                    </a:lnL>
                    <a:lnR w="6350" cap="flat" cmpd="sng" algn="ctr">
                      <a:solidFill>
                        <a:srgbClr val="DDE5E4"/>
                      </a:solidFill>
                      <a:prstDash val="solid"/>
                      <a:round/>
                      <a:headEnd type="none" w="med" len="med"/>
                      <a:tailEnd type="none" w="med" len="med"/>
                    </a:lnR>
                    <a:lnT w="6350" cap="flat" cmpd="sng" algn="ctr">
                      <a:solidFill>
                        <a:srgbClr val="DDE5E4"/>
                      </a:solidFill>
                      <a:prstDash val="solid"/>
                      <a:round/>
                      <a:headEnd type="none" w="med" len="med"/>
                      <a:tailEnd type="none" w="med" len="med"/>
                    </a:lnT>
                    <a:lnB w="6350" cap="flat" cmpd="sng" algn="ctr">
                      <a:solidFill>
                        <a:srgbClr val="DDE5E4"/>
                      </a:solidFill>
                      <a:prstDash val="solid"/>
                      <a:round/>
                      <a:headEnd type="none" w="med" len="med"/>
                      <a:tailEnd type="none" w="med" len="med"/>
                    </a:lnB>
                    <a:solidFill>
                      <a:schemeClr val="tx2"/>
                    </a:solidFill>
                  </a:tcPr>
                </a:tc>
              </a:tr>
              <a:tr h="384048">
                <a:tc>
                  <a:txBody>
                    <a:bodyPr/>
                    <a:lstStyle/>
                    <a:p>
                      <a:pPr indent="0" marL="0">
                        <a:buNone/>
                      </a:pPr>
                      <a:r>
                        <a:rPr lang="en-US" sz="1400" dirty="0">
                          <a:solidFill>
                            <a:schemeClr val="tx1"/>
                          </a:solidFill>
                        </a:rPr>
                        <a:t>Stav14, Stav8, Stav18, Stav17 (hardest)</a:t>
                      </a:r>
                      <a:endParaRPr lang="en-US" sz="1400" dirty="0"/>
                    </a:p>
                  </a:txBody>
                  <a:tcPr marL="91440" marR="91440" marT="45720" marB="45720">
                    <a:lnL w="6350" cap="flat" cmpd="sng" algn="ctr">
                      <a:solidFill>
                        <a:srgbClr val="DDE5E4"/>
                      </a:solidFill>
                      <a:prstDash val="solid"/>
                      <a:round/>
                      <a:headEnd type="none" w="med" len="med"/>
                      <a:tailEnd type="none" w="med" len="med"/>
                    </a:lnL>
                    <a:lnR w="6350" cap="flat" cmpd="sng" algn="ctr">
                      <a:solidFill>
                        <a:srgbClr val="DDE5E4"/>
                      </a:solidFill>
                      <a:prstDash val="solid"/>
                      <a:round/>
                      <a:headEnd type="none" w="med" len="med"/>
                      <a:tailEnd type="none" w="med" len="med"/>
                    </a:lnR>
                    <a:lnT w="6350" cap="flat" cmpd="sng" algn="ctr">
                      <a:solidFill>
                        <a:srgbClr val="DDE5E4"/>
                      </a:solidFill>
                      <a:prstDash val="solid"/>
                      <a:round/>
                      <a:headEnd type="none" w="med" len="med"/>
                      <a:tailEnd type="none" w="med" len="med"/>
                    </a:lnT>
                    <a:lnB w="6350" cap="flat" cmpd="sng" algn="ctr">
                      <a:solidFill>
                        <a:srgbClr val="DDE5E4"/>
                      </a:solidFill>
                      <a:prstDash val="solid"/>
                      <a:round/>
                      <a:headEnd type="none" w="med" len="med"/>
                      <a:tailEnd type="none" w="med" len="med"/>
                    </a:lnB>
                    <a:solidFill>
                      <a:schemeClr val="bg1"/>
                    </a:solidFill>
                  </a:tcPr>
                </a:tc>
                <a:tc>
                  <a:txBody>
                    <a:bodyPr/>
                    <a:lstStyle/>
                    <a:p>
                      <a:pPr indent="0" marL="0">
                        <a:buNone/>
                      </a:pPr>
                      <a:r>
                        <a:rPr lang="en-US" sz="1400" b="1" dirty="0">
                          <a:solidFill>
                            <a:schemeClr val="tx1"/>
                          </a:solidFill>
                        </a:rPr>
                        <a:t>0.833</a:t>
                      </a:r>
                      <a:endParaRPr lang="en-US" sz="1400" dirty="0"/>
                    </a:p>
                  </a:txBody>
                  <a:tcPr marL="91440" marR="91440" marT="45720" marB="45720">
                    <a:lnL w="6350" cap="flat" cmpd="sng" algn="ctr">
                      <a:solidFill>
                        <a:srgbClr val="DDE5E4"/>
                      </a:solidFill>
                      <a:prstDash val="solid"/>
                      <a:round/>
                      <a:headEnd type="none" w="med" len="med"/>
                      <a:tailEnd type="none" w="med" len="med"/>
                    </a:lnL>
                    <a:lnR w="6350" cap="flat" cmpd="sng" algn="ctr">
                      <a:solidFill>
                        <a:srgbClr val="DDE5E4"/>
                      </a:solidFill>
                      <a:prstDash val="solid"/>
                      <a:round/>
                      <a:headEnd type="none" w="med" len="med"/>
                      <a:tailEnd type="none" w="med" len="med"/>
                    </a:lnR>
                    <a:lnT w="6350" cap="flat" cmpd="sng" algn="ctr">
                      <a:solidFill>
                        <a:srgbClr val="DDE5E4"/>
                      </a:solidFill>
                      <a:prstDash val="solid"/>
                      <a:round/>
                      <a:headEnd type="none" w="med" len="med"/>
                      <a:tailEnd type="none" w="med" len="med"/>
                    </a:lnT>
                    <a:lnB w="6350" cap="flat" cmpd="sng" algn="ctr">
                      <a:solidFill>
                        <a:srgbClr val="DDE5E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0.808</a:t>
                      </a:r>
                      <a:endParaRPr lang="en-US" sz="1400" dirty="0"/>
                    </a:p>
                  </a:txBody>
                  <a:tcPr marL="91440" marR="91440" marT="45720" marB="45720">
                    <a:lnL w="6350" cap="flat" cmpd="sng" algn="ctr">
                      <a:solidFill>
                        <a:srgbClr val="DDE5E4"/>
                      </a:solidFill>
                      <a:prstDash val="solid"/>
                      <a:round/>
                      <a:headEnd type="none" w="med" len="med"/>
                      <a:tailEnd type="none" w="med" len="med"/>
                    </a:lnL>
                    <a:lnR w="6350" cap="flat" cmpd="sng" algn="ctr">
                      <a:solidFill>
                        <a:srgbClr val="DDE5E4"/>
                      </a:solidFill>
                      <a:prstDash val="solid"/>
                      <a:round/>
                      <a:headEnd type="none" w="med" len="med"/>
                      <a:tailEnd type="none" w="med" len="med"/>
                    </a:lnR>
                    <a:lnT w="6350" cap="flat" cmpd="sng" algn="ctr">
                      <a:solidFill>
                        <a:srgbClr val="DDE5E4"/>
                      </a:solidFill>
                      <a:prstDash val="solid"/>
                      <a:round/>
                      <a:headEnd type="none" w="med" len="med"/>
                      <a:tailEnd type="none" w="med" len="med"/>
                    </a:lnT>
                    <a:lnB w="6350" cap="flat" cmpd="sng" algn="ctr">
                      <a:solidFill>
                        <a:srgbClr val="DDE5E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+0.025</a:t>
                      </a:r>
                      <a:endParaRPr lang="en-US" sz="1400" dirty="0"/>
                    </a:p>
                  </a:txBody>
                  <a:tcPr marL="91440" marR="91440" marT="45720" marB="45720">
                    <a:lnL w="6350" cap="flat" cmpd="sng" algn="ctr">
                      <a:solidFill>
                        <a:srgbClr val="DDE5E4"/>
                      </a:solidFill>
                      <a:prstDash val="solid"/>
                      <a:round/>
                      <a:headEnd type="none" w="med" len="med"/>
                      <a:tailEnd type="none" w="med" len="med"/>
                    </a:lnL>
                    <a:lnR w="6350" cap="flat" cmpd="sng" algn="ctr">
                      <a:solidFill>
                        <a:srgbClr val="DDE5E4"/>
                      </a:solidFill>
                      <a:prstDash val="solid"/>
                      <a:round/>
                      <a:headEnd type="none" w="med" len="med"/>
                      <a:tailEnd type="none" w="med" len="med"/>
                    </a:lnR>
                    <a:lnT w="6350" cap="flat" cmpd="sng" algn="ctr">
                      <a:solidFill>
                        <a:srgbClr val="DDE5E4"/>
                      </a:solidFill>
                      <a:prstDash val="solid"/>
                      <a:round/>
                      <a:headEnd type="none" w="med" len="med"/>
                      <a:tailEnd type="none" w="med" len="med"/>
                    </a:lnT>
                    <a:lnB w="6350" cap="flat" cmpd="sng" algn="ctr">
                      <a:solidFill>
                        <a:srgbClr val="DDE5E4"/>
                      </a:solidFill>
                      <a:prstDash val="solid"/>
                      <a:round/>
                      <a:headEnd type="none" w="med" len="med"/>
                      <a:tailEnd type="none" w="med" len="med"/>
                    </a:lnB>
                    <a:solidFill>
                      <a:schemeClr val="bg1"/>
                    </a:solidFill>
                  </a:tcPr>
                </a:tc>
              </a:tr>
              <a:tr h="384048">
                <a:tc>
                  <a:txBody>
                    <a:bodyPr/>
                    <a:lstStyle/>
                    <a:p>
                      <a:pPr indent="0" marL="0">
                        <a:buNone/>
                      </a:pPr>
                      <a:r>
                        <a:rPr lang="en-US" sz="1400" dirty="0">
                          <a:solidFill>
                            <a:schemeClr val="tx1"/>
                          </a:solidFill>
                        </a:rPr>
                        <a:t>Stav4, Stav16, Stav14, Stav6</a:t>
                      </a:r>
                      <a:endParaRPr lang="en-US" sz="1400" dirty="0"/>
                    </a:p>
                  </a:txBody>
                  <a:tcPr marL="91440" marR="91440" marT="45720" marB="45720">
                    <a:lnL w="6350" cap="flat" cmpd="sng" algn="ctr">
                      <a:solidFill>
                        <a:srgbClr val="DDE5E4"/>
                      </a:solidFill>
                      <a:prstDash val="solid"/>
                      <a:round/>
                      <a:headEnd type="none" w="med" len="med"/>
                      <a:tailEnd type="none" w="med" len="med"/>
                    </a:lnL>
                    <a:lnR w="6350" cap="flat" cmpd="sng" algn="ctr">
                      <a:solidFill>
                        <a:srgbClr val="DDE5E4"/>
                      </a:solidFill>
                      <a:prstDash val="solid"/>
                      <a:round/>
                      <a:headEnd type="none" w="med" len="med"/>
                      <a:tailEnd type="none" w="med" len="med"/>
                    </a:lnR>
                    <a:lnT w="6350" cap="flat" cmpd="sng" algn="ctr">
                      <a:solidFill>
                        <a:srgbClr val="DDE5E4"/>
                      </a:solidFill>
                      <a:prstDash val="solid"/>
                      <a:round/>
                      <a:headEnd type="none" w="med" len="med"/>
                      <a:tailEnd type="none" w="med" len="med"/>
                    </a:lnT>
                    <a:lnB w="6350" cap="flat" cmpd="sng" algn="ctr">
                      <a:solidFill>
                        <a:srgbClr val="DDE5E4"/>
                      </a:solidFill>
                      <a:prstDash val="solid"/>
                      <a:round/>
                      <a:headEnd type="none" w="med" len="med"/>
                      <a:tailEnd type="none" w="med" len="med"/>
                    </a:lnB>
                    <a:solidFill>
                      <a:schemeClr val="bg1"/>
                    </a:solidFill>
                  </a:tcPr>
                </a:tc>
                <a:tc>
                  <a:txBody>
                    <a:bodyPr/>
                    <a:lstStyle/>
                    <a:p>
                      <a:pPr indent="0" marL="0">
                        <a:buNone/>
                      </a:pPr>
                      <a:r>
                        <a:rPr lang="en-US" sz="1400" b="1" dirty="0">
                          <a:solidFill>
                            <a:schemeClr val="tx1"/>
                          </a:solidFill>
                        </a:rPr>
                        <a:t>0.848</a:t>
                      </a:r>
                      <a:endParaRPr lang="en-US" sz="1400" dirty="0"/>
                    </a:p>
                  </a:txBody>
                  <a:tcPr marL="91440" marR="91440" marT="45720" marB="45720">
                    <a:lnL w="6350" cap="flat" cmpd="sng" algn="ctr">
                      <a:solidFill>
                        <a:srgbClr val="DDE5E4"/>
                      </a:solidFill>
                      <a:prstDash val="solid"/>
                      <a:round/>
                      <a:headEnd type="none" w="med" len="med"/>
                      <a:tailEnd type="none" w="med" len="med"/>
                    </a:lnL>
                    <a:lnR w="6350" cap="flat" cmpd="sng" algn="ctr">
                      <a:solidFill>
                        <a:srgbClr val="DDE5E4"/>
                      </a:solidFill>
                      <a:prstDash val="solid"/>
                      <a:round/>
                      <a:headEnd type="none" w="med" len="med"/>
                      <a:tailEnd type="none" w="med" len="med"/>
                    </a:lnR>
                    <a:lnT w="6350" cap="flat" cmpd="sng" algn="ctr">
                      <a:solidFill>
                        <a:srgbClr val="DDE5E4"/>
                      </a:solidFill>
                      <a:prstDash val="solid"/>
                      <a:round/>
                      <a:headEnd type="none" w="med" len="med"/>
                      <a:tailEnd type="none" w="med" len="med"/>
                    </a:lnT>
                    <a:lnB w="6350" cap="flat" cmpd="sng" algn="ctr">
                      <a:solidFill>
                        <a:srgbClr val="DDE5E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0.834</a:t>
                      </a:r>
                      <a:endParaRPr lang="en-US" sz="1400" dirty="0"/>
                    </a:p>
                  </a:txBody>
                  <a:tcPr marL="91440" marR="91440" marT="45720" marB="45720">
                    <a:lnL w="6350" cap="flat" cmpd="sng" algn="ctr">
                      <a:solidFill>
                        <a:srgbClr val="DDE5E4"/>
                      </a:solidFill>
                      <a:prstDash val="solid"/>
                      <a:round/>
                      <a:headEnd type="none" w="med" len="med"/>
                      <a:tailEnd type="none" w="med" len="med"/>
                    </a:lnL>
                    <a:lnR w="6350" cap="flat" cmpd="sng" algn="ctr">
                      <a:solidFill>
                        <a:srgbClr val="DDE5E4"/>
                      </a:solidFill>
                      <a:prstDash val="solid"/>
                      <a:round/>
                      <a:headEnd type="none" w="med" len="med"/>
                      <a:tailEnd type="none" w="med" len="med"/>
                    </a:lnR>
                    <a:lnT w="6350" cap="flat" cmpd="sng" algn="ctr">
                      <a:solidFill>
                        <a:srgbClr val="DDE5E4"/>
                      </a:solidFill>
                      <a:prstDash val="solid"/>
                      <a:round/>
                      <a:headEnd type="none" w="med" len="med"/>
                      <a:tailEnd type="none" w="med" len="med"/>
                    </a:lnT>
                    <a:lnB w="6350" cap="flat" cmpd="sng" algn="ctr">
                      <a:solidFill>
                        <a:srgbClr val="DDE5E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+0.014</a:t>
                      </a:r>
                      <a:endParaRPr lang="en-US" sz="1400" dirty="0"/>
                    </a:p>
                  </a:txBody>
                  <a:tcPr marL="91440" marR="91440" marT="45720" marB="45720">
                    <a:lnL w="6350" cap="flat" cmpd="sng" algn="ctr">
                      <a:solidFill>
                        <a:srgbClr val="DDE5E4"/>
                      </a:solidFill>
                      <a:prstDash val="solid"/>
                      <a:round/>
                      <a:headEnd type="none" w="med" len="med"/>
                      <a:tailEnd type="none" w="med" len="med"/>
                    </a:lnL>
                    <a:lnR w="6350" cap="flat" cmpd="sng" algn="ctr">
                      <a:solidFill>
                        <a:srgbClr val="DDE5E4"/>
                      </a:solidFill>
                      <a:prstDash val="solid"/>
                      <a:round/>
                      <a:headEnd type="none" w="med" len="med"/>
                      <a:tailEnd type="none" w="med" len="med"/>
                    </a:lnR>
                    <a:lnT w="6350" cap="flat" cmpd="sng" algn="ctr">
                      <a:solidFill>
                        <a:srgbClr val="DDE5E4"/>
                      </a:solidFill>
                      <a:prstDash val="solid"/>
                      <a:round/>
                      <a:headEnd type="none" w="med" len="med"/>
                      <a:tailEnd type="none" w="med" len="med"/>
                    </a:lnT>
                    <a:lnB w="6350" cap="flat" cmpd="sng" algn="ctr">
                      <a:solidFill>
                        <a:srgbClr val="DDE5E4"/>
                      </a:solidFill>
                      <a:prstDash val="solid"/>
                      <a:round/>
                      <a:headEnd type="none" w="med" len="med"/>
                      <a:tailEnd type="none" w="med" len="med"/>
                    </a:lnB>
                    <a:solidFill>
                      <a:schemeClr val="bg1"/>
                    </a:solidFill>
                  </a:tcPr>
                </a:tc>
              </a:tr>
              <a:tr h="384048">
                <a:tc>
                  <a:txBody>
                    <a:bodyPr/>
                    <a:lstStyle/>
                    <a:p>
                      <a:pPr indent="0" marL="0">
                        <a:buNone/>
                      </a:pPr>
                      <a:r>
                        <a:rPr lang="en-US" sz="1400" dirty="0">
                          <a:solidFill>
                            <a:schemeClr val="tx1"/>
                          </a:solidFill>
                        </a:rPr>
                        <a:t>Stav9, Stav13, Stav20, Stav19</a:t>
                      </a:r>
                      <a:endParaRPr lang="en-US" sz="1400" dirty="0"/>
                    </a:p>
                  </a:txBody>
                  <a:tcPr marL="91440" marR="91440" marT="45720" marB="45720">
                    <a:lnL w="6350" cap="flat" cmpd="sng" algn="ctr">
                      <a:solidFill>
                        <a:srgbClr val="DDE5E4"/>
                      </a:solidFill>
                      <a:prstDash val="solid"/>
                      <a:round/>
                      <a:headEnd type="none" w="med" len="med"/>
                      <a:tailEnd type="none" w="med" len="med"/>
                    </a:lnL>
                    <a:lnR w="6350" cap="flat" cmpd="sng" algn="ctr">
                      <a:solidFill>
                        <a:srgbClr val="DDE5E4"/>
                      </a:solidFill>
                      <a:prstDash val="solid"/>
                      <a:round/>
                      <a:headEnd type="none" w="med" len="med"/>
                      <a:tailEnd type="none" w="med" len="med"/>
                    </a:lnR>
                    <a:lnT w="6350" cap="flat" cmpd="sng" algn="ctr">
                      <a:solidFill>
                        <a:srgbClr val="DDE5E4"/>
                      </a:solidFill>
                      <a:prstDash val="solid"/>
                      <a:round/>
                      <a:headEnd type="none" w="med" len="med"/>
                      <a:tailEnd type="none" w="med" len="med"/>
                    </a:lnT>
                    <a:lnB w="6350" cap="flat" cmpd="sng" algn="ctr">
                      <a:solidFill>
                        <a:srgbClr val="DDE5E4"/>
                      </a:solidFill>
                      <a:prstDash val="solid"/>
                      <a:round/>
                      <a:headEnd type="none" w="med" len="med"/>
                      <a:tailEnd type="none" w="med" len="med"/>
                    </a:lnB>
                    <a:solidFill>
                      <a:schemeClr val="bg1"/>
                    </a:solidFill>
                  </a:tcPr>
                </a:tc>
                <a:tc>
                  <a:txBody>
                    <a:bodyPr/>
                    <a:lstStyle/>
                    <a:p>
                      <a:pPr indent="0" marL="0">
                        <a:buNone/>
                      </a:pPr>
                      <a:r>
                        <a:rPr lang="en-US" sz="1400" b="1" dirty="0">
                          <a:solidFill>
                            <a:schemeClr val="tx1"/>
                          </a:solidFill>
                        </a:rPr>
                        <a:t>0.886</a:t>
                      </a:r>
                      <a:endParaRPr lang="en-US" sz="1400" dirty="0"/>
                    </a:p>
                  </a:txBody>
                  <a:tcPr marL="91440" marR="91440" marT="45720" marB="45720">
                    <a:lnL w="6350" cap="flat" cmpd="sng" algn="ctr">
                      <a:solidFill>
                        <a:srgbClr val="DDE5E4"/>
                      </a:solidFill>
                      <a:prstDash val="solid"/>
                      <a:round/>
                      <a:headEnd type="none" w="med" len="med"/>
                      <a:tailEnd type="none" w="med" len="med"/>
                    </a:lnL>
                    <a:lnR w="6350" cap="flat" cmpd="sng" algn="ctr">
                      <a:solidFill>
                        <a:srgbClr val="DDE5E4"/>
                      </a:solidFill>
                      <a:prstDash val="solid"/>
                      <a:round/>
                      <a:headEnd type="none" w="med" len="med"/>
                      <a:tailEnd type="none" w="med" len="med"/>
                    </a:lnR>
                    <a:lnT w="6350" cap="flat" cmpd="sng" algn="ctr">
                      <a:solidFill>
                        <a:srgbClr val="DDE5E4"/>
                      </a:solidFill>
                      <a:prstDash val="solid"/>
                      <a:round/>
                      <a:headEnd type="none" w="med" len="med"/>
                      <a:tailEnd type="none" w="med" len="med"/>
                    </a:lnT>
                    <a:lnB w="6350" cap="flat" cmpd="sng" algn="ctr">
                      <a:solidFill>
                        <a:srgbClr val="DDE5E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0.855</a:t>
                      </a:r>
                      <a:endParaRPr lang="en-US" sz="1400" dirty="0"/>
                    </a:p>
                  </a:txBody>
                  <a:tcPr marL="91440" marR="91440" marT="45720" marB="45720">
                    <a:lnL w="6350" cap="flat" cmpd="sng" algn="ctr">
                      <a:solidFill>
                        <a:srgbClr val="DDE5E4"/>
                      </a:solidFill>
                      <a:prstDash val="solid"/>
                      <a:round/>
                      <a:headEnd type="none" w="med" len="med"/>
                      <a:tailEnd type="none" w="med" len="med"/>
                    </a:lnL>
                    <a:lnR w="6350" cap="flat" cmpd="sng" algn="ctr">
                      <a:solidFill>
                        <a:srgbClr val="DDE5E4"/>
                      </a:solidFill>
                      <a:prstDash val="solid"/>
                      <a:round/>
                      <a:headEnd type="none" w="med" len="med"/>
                      <a:tailEnd type="none" w="med" len="med"/>
                    </a:lnR>
                    <a:lnT w="6350" cap="flat" cmpd="sng" algn="ctr">
                      <a:solidFill>
                        <a:srgbClr val="DDE5E4"/>
                      </a:solidFill>
                      <a:prstDash val="solid"/>
                      <a:round/>
                      <a:headEnd type="none" w="med" len="med"/>
                      <a:tailEnd type="none" w="med" len="med"/>
                    </a:lnT>
                    <a:lnB w="6350" cap="flat" cmpd="sng" algn="ctr">
                      <a:solidFill>
                        <a:srgbClr val="DDE5E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+0.031</a:t>
                      </a:r>
                      <a:endParaRPr lang="en-US" sz="1400" dirty="0"/>
                    </a:p>
                  </a:txBody>
                  <a:tcPr marL="91440" marR="91440" marT="45720" marB="45720">
                    <a:lnL w="6350" cap="flat" cmpd="sng" algn="ctr">
                      <a:solidFill>
                        <a:srgbClr val="DDE5E4"/>
                      </a:solidFill>
                      <a:prstDash val="solid"/>
                      <a:round/>
                      <a:headEnd type="none" w="med" len="med"/>
                      <a:tailEnd type="none" w="med" len="med"/>
                    </a:lnL>
                    <a:lnR w="6350" cap="flat" cmpd="sng" algn="ctr">
                      <a:solidFill>
                        <a:srgbClr val="DDE5E4"/>
                      </a:solidFill>
                      <a:prstDash val="solid"/>
                      <a:round/>
                      <a:headEnd type="none" w="med" len="med"/>
                      <a:tailEnd type="none" w="med" len="med"/>
                    </a:lnR>
                    <a:lnT w="6350" cap="flat" cmpd="sng" algn="ctr">
                      <a:solidFill>
                        <a:srgbClr val="DDE5E4"/>
                      </a:solidFill>
                      <a:prstDash val="solid"/>
                      <a:round/>
                      <a:headEnd type="none" w="med" len="med"/>
                      <a:tailEnd type="none" w="med" len="med"/>
                    </a:lnT>
                    <a:lnB w="6350" cap="flat" cmpd="sng" algn="ctr">
                      <a:solidFill>
                        <a:srgbClr val="DDE5E4"/>
                      </a:solidFill>
                      <a:prstDash val="solid"/>
                      <a:round/>
                      <a:headEnd type="none" w="med" len="med"/>
                      <a:tailEnd type="none" w="med" len="med"/>
                    </a:lnB>
                    <a:solidFill>
                      <a:schemeClr val="bg1"/>
                    </a:solidFill>
                  </a:tcPr>
                </a:tc>
              </a:tr>
              <a:tr h="384048">
                <a:tc>
                  <a:txBody>
                    <a:bodyPr/>
                    <a:lstStyle/>
                    <a:p>
                      <a:pPr indent="0" marL="0">
                        <a:buNone/>
                      </a:pPr>
                      <a:r>
                        <a:rPr lang="en-US" sz="1400" dirty="0">
                          <a:solidFill>
                            <a:schemeClr val="tx1"/>
                          </a:solidFill>
                        </a:rPr>
                        <a:t>Stav6, Stav18, Stav16, Stav14</a:t>
                      </a:r>
                      <a:endParaRPr lang="en-US" sz="1400" dirty="0"/>
                    </a:p>
                  </a:txBody>
                  <a:tcPr marL="91440" marR="91440" marT="45720" marB="45720">
                    <a:lnL w="6350" cap="flat" cmpd="sng" algn="ctr">
                      <a:solidFill>
                        <a:srgbClr val="DDE5E4"/>
                      </a:solidFill>
                      <a:prstDash val="solid"/>
                      <a:round/>
                      <a:headEnd type="none" w="med" len="med"/>
                      <a:tailEnd type="none" w="med" len="med"/>
                    </a:lnL>
                    <a:lnR w="6350" cap="flat" cmpd="sng" algn="ctr">
                      <a:solidFill>
                        <a:srgbClr val="DDE5E4"/>
                      </a:solidFill>
                      <a:prstDash val="solid"/>
                      <a:round/>
                      <a:headEnd type="none" w="med" len="med"/>
                      <a:tailEnd type="none" w="med" len="med"/>
                    </a:lnR>
                    <a:lnT w="6350" cap="flat" cmpd="sng" algn="ctr">
                      <a:solidFill>
                        <a:srgbClr val="DDE5E4"/>
                      </a:solidFill>
                      <a:prstDash val="solid"/>
                      <a:round/>
                      <a:headEnd type="none" w="med" len="med"/>
                      <a:tailEnd type="none" w="med" len="med"/>
                    </a:lnT>
                    <a:lnB w="6350" cap="flat" cmpd="sng" algn="ctr">
                      <a:solidFill>
                        <a:srgbClr val="DDE5E4"/>
                      </a:solidFill>
                      <a:prstDash val="solid"/>
                      <a:round/>
                      <a:headEnd type="none" w="med" len="med"/>
                      <a:tailEnd type="none" w="med" len="med"/>
                    </a:lnB>
                    <a:solidFill>
                      <a:schemeClr val="bg1"/>
                    </a:solidFill>
                  </a:tcPr>
                </a:tc>
                <a:tc>
                  <a:txBody>
                    <a:bodyPr/>
                    <a:lstStyle/>
                    <a:p>
                      <a:pPr indent="0" marL="0">
                        <a:buNone/>
                      </a:pPr>
                      <a:r>
                        <a:rPr lang="en-US" sz="1400" b="1" dirty="0">
                          <a:solidFill>
                            <a:schemeClr val="tx1"/>
                          </a:solidFill>
                        </a:rPr>
                        <a:t>0.831</a:t>
                      </a:r>
                      <a:endParaRPr lang="en-US" sz="1400" dirty="0"/>
                    </a:p>
                  </a:txBody>
                  <a:tcPr marL="91440" marR="91440" marT="45720" marB="45720">
                    <a:lnL w="6350" cap="flat" cmpd="sng" algn="ctr">
                      <a:solidFill>
                        <a:srgbClr val="DDE5E4"/>
                      </a:solidFill>
                      <a:prstDash val="solid"/>
                      <a:round/>
                      <a:headEnd type="none" w="med" len="med"/>
                      <a:tailEnd type="none" w="med" len="med"/>
                    </a:lnL>
                    <a:lnR w="6350" cap="flat" cmpd="sng" algn="ctr">
                      <a:solidFill>
                        <a:srgbClr val="DDE5E4"/>
                      </a:solidFill>
                      <a:prstDash val="solid"/>
                      <a:round/>
                      <a:headEnd type="none" w="med" len="med"/>
                      <a:tailEnd type="none" w="med" len="med"/>
                    </a:lnR>
                    <a:lnT w="6350" cap="flat" cmpd="sng" algn="ctr">
                      <a:solidFill>
                        <a:srgbClr val="DDE5E4"/>
                      </a:solidFill>
                      <a:prstDash val="solid"/>
                      <a:round/>
                      <a:headEnd type="none" w="med" len="med"/>
                      <a:tailEnd type="none" w="med" len="med"/>
                    </a:lnT>
                    <a:lnB w="6350" cap="flat" cmpd="sng" algn="ctr">
                      <a:solidFill>
                        <a:srgbClr val="DDE5E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0.809</a:t>
                      </a:r>
                      <a:endParaRPr lang="en-US" sz="1400" dirty="0"/>
                    </a:p>
                  </a:txBody>
                  <a:tcPr marL="91440" marR="91440" marT="45720" marB="45720">
                    <a:lnL w="6350" cap="flat" cmpd="sng" algn="ctr">
                      <a:solidFill>
                        <a:srgbClr val="DDE5E4"/>
                      </a:solidFill>
                      <a:prstDash val="solid"/>
                      <a:round/>
                      <a:headEnd type="none" w="med" len="med"/>
                      <a:tailEnd type="none" w="med" len="med"/>
                    </a:lnL>
                    <a:lnR w="6350" cap="flat" cmpd="sng" algn="ctr">
                      <a:solidFill>
                        <a:srgbClr val="DDE5E4"/>
                      </a:solidFill>
                      <a:prstDash val="solid"/>
                      <a:round/>
                      <a:headEnd type="none" w="med" len="med"/>
                      <a:tailEnd type="none" w="med" len="med"/>
                    </a:lnR>
                    <a:lnT w="6350" cap="flat" cmpd="sng" algn="ctr">
                      <a:solidFill>
                        <a:srgbClr val="DDE5E4"/>
                      </a:solidFill>
                      <a:prstDash val="solid"/>
                      <a:round/>
                      <a:headEnd type="none" w="med" len="med"/>
                      <a:tailEnd type="none" w="med" len="med"/>
                    </a:lnT>
                    <a:lnB w="6350" cap="flat" cmpd="sng" algn="ctr">
                      <a:solidFill>
                        <a:srgbClr val="DDE5E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+0.022</a:t>
                      </a:r>
                      <a:endParaRPr lang="en-US" sz="1400" dirty="0"/>
                    </a:p>
                  </a:txBody>
                  <a:tcPr marL="91440" marR="91440" marT="45720" marB="45720">
                    <a:lnL w="6350" cap="flat" cmpd="sng" algn="ctr">
                      <a:solidFill>
                        <a:srgbClr val="DDE5E4"/>
                      </a:solidFill>
                      <a:prstDash val="solid"/>
                      <a:round/>
                      <a:headEnd type="none" w="med" len="med"/>
                      <a:tailEnd type="none" w="med" len="med"/>
                    </a:lnL>
                    <a:lnR w="6350" cap="flat" cmpd="sng" algn="ctr">
                      <a:solidFill>
                        <a:srgbClr val="DDE5E4"/>
                      </a:solidFill>
                      <a:prstDash val="solid"/>
                      <a:round/>
                      <a:headEnd type="none" w="med" len="med"/>
                      <a:tailEnd type="none" w="med" len="med"/>
                    </a:lnR>
                    <a:lnT w="6350" cap="flat" cmpd="sng" algn="ctr">
                      <a:solidFill>
                        <a:srgbClr val="DDE5E4"/>
                      </a:solidFill>
                      <a:prstDash val="solid"/>
                      <a:round/>
                      <a:headEnd type="none" w="med" len="med"/>
                      <a:tailEnd type="none" w="med" len="med"/>
                    </a:lnT>
                    <a:lnB w="6350" cap="flat" cmpd="sng" algn="ctr">
                      <a:solidFill>
                        <a:srgbClr val="DDE5E4"/>
                      </a:solidFill>
                      <a:prstDash val="solid"/>
                      <a:round/>
                      <a:headEnd type="none" w="med" len="med"/>
                      <a:tailEnd type="none" w="med" len="med"/>
                    </a:lnB>
                    <a:solidFill>
                      <a:schemeClr val="bg1"/>
                    </a:solidFill>
                  </a:tcPr>
                </a:tc>
              </a:tr>
              <a:tr h="384048">
                <a:tc>
                  <a:txBody>
                    <a:bodyPr/>
                    <a:lstStyle/>
                    <a:p>
                      <a:pPr indent="0" marL="0">
                        <a:buNone/>
                      </a:pPr>
                      <a:r>
                        <a:rPr lang="en-US" sz="1400" dirty="0">
                          <a:solidFill>
                            <a:schemeClr val="tx1"/>
                          </a:solidFill>
                        </a:rPr>
                        <a:t>Inbar3, Inbar12, inbar1, Inbar9 (hardest)</a:t>
                      </a:r>
                      <a:endParaRPr lang="en-US" sz="1400" dirty="0"/>
                    </a:p>
                  </a:txBody>
                  <a:tcPr marL="91440" marR="91440" marT="45720" marB="45720">
                    <a:lnL w="6350" cap="flat" cmpd="sng" algn="ctr">
                      <a:solidFill>
                        <a:srgbClr val="DDE5E4"/>
                      </a:solidFill>
                      <a:prstDash val="solid"/>
                      <a:round/>
                      <a:headEnd type="none" w="med" len="med"/>
                      <a:tailEnd type="none" w="med" len="med"/>
                    </a:lnL>
                    <a:lnR w="6350" cap="flat" cmpd="sng" algn="ctr">
                      <a:solidFill>
                        <a:srgbClr val="DDE5E4"/>
                      </a:solidFill>
                      <a:prstDash val="solid"/>
                      <a:round/>
                      <a:headEnd type="none" w="med" len="med"/>
                      <a:tailEnd type="none" w="med" len="med"/>
                    </a:lnR>
                    <a:lnT w="6350" cap="flat" cmpd="sng" algn="ctr">
                      <a:solidFill>
                        <a:srgbClr val="DDE5E4"/>
                      </a:solidFill>
                      <a:prstDash val="solid"/>
                      <a:round/>
                      <a:headEnd type="none" w="med" len="med"/>
                      <a:tailEnd type="none" w="med" len="med"/>
                    </a:lnT>
                    <a:lnB w="6350" cap="flat" cmpd="sng" algn="ctr">
                      <a:solidFill>
                        <a:srgbClr val="DDE5E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0.741</a:t>
                      </a:r>
                      <a:endParaRPr lang="en-US" sz="1400" dirty="0"/>
                    </a:p>
                  </a:txBody>
                  <a:tcPr marL="91440" marR="91440" marT="45720" marB="45720">
                    <a:lnL w="6350" cap="flat" cmpd="sng" algn="ctr">
                      <a:solidFill>
                        <a:srgbClr val="DDE5E4"/>
                      </a:solidFill>
                      <a:prstDash val="solid"/>
                      <a:round/>
                      <a:headEnd type="none" w="med" len="med"/>
                      <a:tailEnd type="none" w="med" len="med"/>
                    </a:lnL>
                    <a:lnR w="6350" cap="flat" cmpd="sng" algn="ctr">
                      <a:solidFill>
                        <a:srgbClr val="DDE5E4"/>
                      </a:solidFill>
                      <a:prstDash val="solid"/>
                      <a:round/>
                      <a:headEnd type="none" w="med" len="med"/>
                      <a:tailEnd type="none" w="med" len="med"/>
                    </a:lnR>
                    <a:lnT w="6350" cap="flat" cmpd="sng" algn="ctr">
                      <a:solidFill>
                        <a:srgbClr val="DDE5E4"/>
                      </a:solidFill>
                      <a:prstDash val="solid"/>
                      <a:round/>
                      <a:headEnd type="none" w="med" len="med"/>
                      <a:tailEnd type="none" w="med" len="med"/>
                    </a:lnT>
                    <a:lnB w="6350" cap="flat" cmpd="sng" algn="ctr">
                      <a:solidFill>
                        <a:srgbClr val="DDE5E4"/>
                      </a:solidFill>
                      <a:prstDash val="solid"/>
                      <a:round/>
                      <a:headEnd type="none" w="med" len="med"/>
                      <a:tailEnd type="none" w="med" len="med"/>
                    </a:lnB>
                    <a:solidFill>
                      <a:schemeClr val="bg1"/>
                    </a:solidFill>
                  </a:tcPr>
                </a:tc>
                <a:tc>
                  <a:txBody>
                    <a:bodyPr/>
                    <a:lstStyle/>
                    <a:p>
                      <a:pPr indent="0" marL="0">
                        <a:buNone/>
                      </a:pPr>
                      <a:r>
                        <a:rPr lang="en-US" sz="1400" b="1" dirty="0">
                          <a:solidFill>
                            <a:schemeClr val="tx1"/>
                          </a:solidFill>
                        </a:rPr>
                        <a:t>0.782</a:t>
                      </a:r>
                      <a:endParaRPr lang="en-US" sz="1400" dirty="0"/>
                    </a:p>
                  </a:txBody>
                  <a:tcPr marL="91440" marR="91440" marT="45720" marB="45720">
                    <a:lnL w="6350" cap="flat" cmpd="sng" algn="ctr">
                      <a:solidFill>
                        <a:srgbClr val="DDE5E4"/>
                      </a:solidFill>
                      <a:prstDash val="solid"/>
                      <a:round/>
                      <a:headEnd type="none" w="med" len="med"/>
                      <a:tailEnd type="none" w="med" len="med"/>
                    </a:lnL>
                    <a:lnR w="6350" cap="flat" cmpd="sng" algn="ctr">
                      <a:solidFill>
                        <a:srgbClr val="DDE5E4"/>
                      </a:solidFill>
                      <a:prstDash val="solid"/>
                      <a:round/>
                      <a:headEnd type="none" w="med" len="med"/>
                      <a:tailEnd type="none" w="med" len="med"/>
                    </a:lnR>
                    <a:lnT w="6350" cap="flat" cmpd="sng" algn="ctr">
                      <a:solidFill>
                        <a:srgbClr val="DDE5E4"/>
                      </a:solidFill>
                      <a:prstDash val="solid"/>
                      <a:round/>
                      <a:headEnd type="none" w="med" len="med"/>
                      <a:tailEnd type="none" w="med" len="med"/>
                    </a:lnT>
                    <a:lnB w="6350" cap="flat" cmpd="sng" algn="ctr">
                      <a:solidFill>
                        <a:srgbClr val="DDE5E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+0.041</a:t>
                      </a:r>
                      <a:endParaRPr lang="en-US" sz="1400" dirty="0"/>
                    </a:p>
                  </a:txBody>
                  <a:tcPr marL="91440" marR="91440" marT="45720" marB="45720">
                    <a:lnL w="6350" cap="flat" cmpd="sng" algn="ctr">
                      <a:solidFill>
                        <a:srgbClr val="DDE5E4"/>
                      </a:solidFill>
                      <a:prstDash val="solid"/>
                      <a:round/>
                      <a:headEnd type="none" w="med" len="med"/>
                      <a:tailEnd type="none" w="med" len="med"/>
                    </a:lnL>
                    <a:lnR w="6350" cap="flat" cmpd="sng" algn="ctr">
                      <a:solidFill>
                        <a:srgbClr val="DDE5E4"/>
                      </a:solidFill>
                      <a:prstDash val="solid"/>
                      <a:round/>
                      <a:headEnd type="none" w="med" len="med"/>
                      <a:tailEnd type="none" w="med" len="med"/>
                    </a:lnR>
                    <a:lnT w="6350" cap="flat" cmpd="sng" algn="ctr">
                      <a:solidFill>
                        <a:srgbClr val="DDE5E4"/>
                      </a:solidFill>
                      <a:prstDash val="solid"/>
                      <a:round/>
                      <a:headEnd type="none" w="med" len="med"/>
                      <a:tailEnd type="none" w="med" len="med"/>
                    </a:lnT>
                    <a:lnB w="6350" cap="flat" cmpd="sng" algn="ctr">
                      <a:solidFill>
                        <a:srgbClr val="DDE5E4"/>
                      </a:solidFill>
                      <a:prstDash val="solid"/>
                      <a:round/>
                      <a:headEnd type="none" w="med" len="med"/>
                      <a:tailEnd type="none" w="med" len="med"/>
                    </a:lnB>
                    <a:solidFill>
                      <a:schemeClr val="bg1"/>
                    </a:solidFill>
                  </a:tcPr>
                </a:tc>
              </a:tr>
              <a:tr h="384048">
                <a:tc>
                  <a:txBody>
                    <a:bodyPr/>
                    <a:lstStyle/>
                    <a:p>
                      <a:pPr indent="0" marL="0">
                        <a:buNone/>
                      </a:pPr>
                      <a:r>
                        <a:rPr lang="en-US" sz="1400" dirty="0">
                          <a:solidFill>
                            <a:schemeClr val="tx1"/>
                          </a:solidFill>
                        </a:rPr>
                        <a:t>Inbar9, inbar4, Inbar8, Inbar11</a:t>
                      </a:r>
                      <a:endParaRPr lang="en-US" sz="1400" dirty="0"/>
                    </a:p>
                  </a:txBody>
                  <a:tcPr marL="91440" marR="91440" marT="45720" marB="45720">
                    <a:lnL w="6350" cap="flat" cmpd="sng" algn="ctr">
                      <a:solidFill>
                        <a:srgbClr val="DDE5E4"/>
                      </a:solidFill>
                      <a:prstDash val="solid"/>
                      <a:round/>
                      <a:headEnd type="none" w="med" len="med"/>
                      <a:tailEnd type="none" w="med" len="med"/>
                    </a:lnL>
                    <a:lnR w="6350" cap="flat" cmpd="sng" algn="ctr">
                      <a:solidFill>
                        <a:srgbClr val="DDE5E4"/>
                      </a:solidFill>
                      <a:prstDash val="solid"/>
                      <a:round/>
                      <a:headEnd type="none" w="med" len="med"/>
                      <a:tailEnd type="none" w="med" len="med"/>
                    </a:lnR>
                    <a:lnT w="6350" cap="flat" cmpd="sng" algn="ctr">
                      <a:solidFill>
                        <a:srgbClr val="DDE5E4"/>
                      </a:solidFill>
                      <a:prstDash val="solid"/>
                      <a:round/>
                      <a:headEnd type="none" w="med" len="med"/>
                      <a:tailEnd type="none" w="med" len="med"/>
                    </a:lnT>
                    <a:lnB w="6350" cap="flat" cmpd="sng" algn="ctr">
                      <a:solidFill>
                        <a:srgbClr val="DDE5E4"/>
                      </a:solidFill>
                      <a:prstDash val="solid"/>
                      <a:round/>
                      <a:headEnd type="none" w="med" len="med"/>
                      <a:tailEnd type="none" w="med" len="med"/>
                    </a:lnB>
                    <a:solidFill>
                      <a:schemeClr val="bg1"/>
                    </a:solidFill>
                  </a:tcPr>
                </a:tc>
                <a:tc>
                  <a:txBody>
                    <a:bodyPr/>
                    <a:lstStyle/>
                    <a:p>
                      <a:pPr indent="0" marL="0">
                        <a:buNone/>
                      </a:pPr>
                      <a:r>
                        <a:rPr lang="en-US" sz="1400" b="1" dirty="0">
                          <a:solidFill>
                            <a:schemeClr val="tx1"/>
                          </a:solidFill>
                        </a:rPr>
                        <a:t>0.838</a:t>
                      </a:r>
                      <a:endParaRPr lang="en-US" sz="1400" dirty="0"/>
                    </a:p>
                  </a:txBody>
                  <a:tcPr marL="91440" marR="91440" marT="45720" marB="45720">
                    <a:lnL w="6350" cap="flat" cmpd="sng" algn="ctr">
                      <a:solidFill>
                        <a:srgbClr val="DDE5E4"/>
                      </a:solidFill>
                      <a:prstDash val="solid"/>
                      <a:round/>
                      <a:headEnd type="none" w="med" len="med"/>
                      <a:tailEnd type="none" w="med" len="med"/>
                    </a:lnL>
                    <a:lnR w="6350" cap="flat" cmpd="sng" algn="ctr">
                      <a:solidFill>
                        <a:srgbClr val="DDE5E4"/>
                      </a:solidFill>
                      <a:prstDash val="solid"/>
                      <a:round/>
                      <a:headEnd type="none" w="med" len="med"/>
                      <a:tailEnd type="none" w="med" len="med"/>
                    </a:lnR>
                    <a:lnT w="6350" cap="flat" cmpd="sng" algn="ctr">
                      <a:solidFill>
                        <a:srgbClr val="DDE5E4"/>
                      </a:solidFill>
                      <a:prstDash val="solid"/>
                      <a:round/>
                      <a:headEnd type="none" w="med" len="med"/>
                      <a:tailEnd type="none" w="med" len="med"/>
                    </a:lnT>
                    <a:lnB w="6350" cap="flat" cmpd="sng" algn="ctr">
                      <a:solidFill>
                        <a:srgbClr val="DDE5E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0.827</a:t>
                      </a:r>
                      <a:endParaRPr lang="en-US" sz="1400" dirty="0"/>
                    </a:p>
                  </a:txBody>
                  <a:tcPr marL="91440" marR="91440" marT="45720" marB="45720">
                    <a:lnL w="6350" cap="flat" cmpd="sng" algn="ctr">
                      <a:solidFill>
                        <a:srgbClr val="DDE5E4"/>
                      </a:solidFill>
                      <a:prstDash val="solid"/>
                      <a:round/>
                      <a:headEnd type="none" w="med" len="med"/>
                      <a:tailEnd type="none" w="med" len="med"/>
                    </a:lnL>
                    <a:lnR w="6350" cap="flat" cmpd="sng" algn="ctr">
                      <a:solidFill>
                        <a:srgbClr val="DDE5E4"/>
                      </a:solidFill>
                      <a:prstDash val="solid"/>
                      <a:round/>
                      <a:headEnd type="none" w="med" len="med"/>
                      <a:tailEnd type="none" w="med" len="med"/>
                    </a:lnR>
                    <a:lnT w="6350" cap="flat" cmpd="sng" algn="ctr">
                      <a:solidFill>
                        <a:srgbClr val="DDE5E4"/>
                      </a:solidFill>
                      <a:prstDash val="solid"/>
                      <a:round/>
                      <a:headEnd type="none" w="med" len="med"/>
                      <a:tailEnd type="none" w="med" len="med"/>
                    </a:lnT>
                    <a:lnB w="6350" cap="flat" cmpd="sng" algn="ctr">
                      <a:solidFill>
                        <a:srgbClr val="DDE5E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−0.011</a:t>
                      </a:r>
                      <a:endParaRPr lang="en-US" sz="1400" dirty="0"/>
                    </a:p>
                  </a:txBody>
                  <a:tcPr marL="91440" marR="91440" marT="45720" marB="45720">
                    <a:lnL w="6350" cap="flat" cmpd="sng" algn="ctr">
                      <a:solidFill>
                        <a:srgbClr val="DDE5E4"/>
                      </a:solidFill>
                      <a:prstDash val="solid"/>
                      <a:round/>
                      <a:headEnd type="none" w="med" len="med"/>
                      <a:tailEnd type="none" w="med" len="med"/>
                    </a:lnL>
                    <a:lnR w="6350" cap="flat" cmpd="sng" algn="ctr">
                      <a:solidFill>
                        <a:srgbClr val="DDE5E4"/>
                      </a:solidFill>
                      <a:prstDash val="solid"/>
                      <a:round/>
                      <a:headEnd type="none" w="med" len="med"/>
                      <a:tailEnd type="none" w="med" len="med"/>
                    </a:lnR>
                    <a:lnT w="6350" cap="flat" cmpd="sng" algn="ctr">
                      <a:solidFill>
                        <a:srgbClr val="DDE5E4"/>
                      </a:solidFill>
                      <a:prstDash val="solid"/>
                      <a:round/>
                      <a:headEnd type="none" w="med" len="med"/>
                      <a:tailEnd type="none" w="med" len="med"/>
                    </a:lnT>
                    <a:lnB w="6350" cap="flat" cmpd="sng" algn="ctr">
                      <a:solidFill>
                        <a:srgbClr val="DDE5E4"/>
                      </a:solidFill>
                      <a:prstDash val="solid"/>
                      <a:round/>
                      <a:headEnd type="none" w="med" len="med"/>
                      <a:tailEnd type="none" w="med" len="med"/>
                    </a:lnB>
                    <a:solidFill>
                      <a:schemeClr val="bg1"/>
                    </a:solidFill>
                  </a:tcPr>
                </a:tc>
              </a:tr>
              <a:tr h="384048">
                <a:tc>
                  <a:txBody>
                    <a:bodyPr/>
                    <a:lstStyle/>
                    <a:p>
                      <a:pPr indent="0" marL="0">
                        <a:buNone/>
                      </a:pPr>
                      <a:r>
                        <a:rPr lang="en-US" sz="1400" dirty="0">
                          <a:solidFill>
                            <a:schemeClr val="tx1"/>
                          </a:solidFill>
                        </a:rPr>
                        <a:t>Inbar10, Inbar2, Inbar6, Inbar8</a:t>
                      </a:r>
                      <a:endParaRPr lang="en-US" sz="1400" dirty="0"/>
                    </a:p>
                  </a:txBody>
                  <a:tcPr marL="91440" marR="91440" marT="45720" marB="45720">
                    <a:lnL w="6350" cap="flat" cmpd="sng" algn="ctr">
                      <a:solidFill>
                        <a:srgbClr val="DDE5E4"/>
                      </a:solidFill>
                      <a:prstDash val="solid"/>
                      <a:round/>
                      <a:headEnd type="none" w="med" len="med"/>
                      <a:tailEnd type="none" w="med" len="med"/>
                    </a:lnL>
                    <a:lnR w="6350" cap="flat" cmpd="sng" algn="ctr">
                      <a:solidFill>
                        <a:srgbClr val="DDE5E4"/>
                      </a:solidFill>
                      <a:prstDash val="solid"/>
                      <a:round/>
                      <a:headEnd type="none" w="med" len="med"/>
                      <a:tailEnd type="none" w="med" len="med"/>
                    </a:lnR>
                    <a:lnT w="6350" cap="flat" cmpd="sng" algn="ctr">
                      <a:solidFill>
                        <a:srgbClr val="DDE5E4"/>
                      </a:solidFill>
                      <a:prstDash val="solid"/>
                      <a:round/>
                      <a:headEnd type="none" w="med" len="med"/>
                      <a:tailEnd type="none" w="med" len="med"/>
                    </a:lnT>
                    <a:lnB w="6350" cap="flat" cmpd="sng" algn="ctr">
                      <a:solidFill>
                        <a:srgbClr val="DDE5E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0.847</a:t>
                      </a:r>
                      <a:endParaRPr lang="en-US" sz="1400" dirty="0"/>
                    </a:p>
                  </a:txBody>
                  <a:tcPr marL="91440" marR="91440" marT="45720" marB="45720">
                    <a:lnL w="6350" cap="flat" cmpd="sng" algn="ctr">
                      <a:solidFill>
                        <a:srgbClr val="DDE5E4"/>
                      </a:solidFill>
                      <a:prstDash val="solid"/>
                      <a:round/>
                      <a:headEnd type="none" w="med" len="med"/>
                      <a:tailEnd type="none" w="med" len="med"/>
                    </a:lnL>
                    <a:lnR w="6350" cap="flat" cmpd="sng" algn="ctr">
                      <a:solidFill>
                        <a:srgbClr val="DDE5E4"/>
                      </a:solidFill>
                      <a:prstDash val="solid"/>
                      <a:round/>
                      <a:headEnd type="none" w="med" len="med"/>
                      <a:tailEnd type="none" w="med" len="med"/>
                    </a:lnR>
                    <a:lnT w="6350" cap="flat" cmpd="sng" algn="ctr">
                      <a:solidFill>
                        <a:srgbClr val="DDE5E4"/>
                      </a:solidFill>
                      <a:prstDash val="solid"/>
                      <a:round/>
                      <a:headEnd type="none" w="med" len="med"/>
                      <a:tailEnd type="none" w="med" len="med"/>
                    </a:lnT>
                    <a:lnB w="6350" cap="flat" cmpd="sng" algn="ctr">
                      <a:solidFill>
                        <a:srgbClr val="DDE5E4"/>
                      </a:solidFill>
                      <a:prstDash val="solid"/>
                      <a:round/>
                      <a:headEnd type="none" w="med" len="med"/>
                      <a:tailEnd type="none" w="med" len="med"/>
                    </a:lnB>
                    <a:solidFill>
                      <a:schemeClr val="bg1"/>
                    </a:solidFill>
                  </a:tcPr>
                </a:tc>
                <a:tc>
                  <a:txBody>
                    <a:bodyPr/>
                    <a:lstStyle/>
                    <a:p>
                      <a:pPr indent="0" marL="0">
                        <a:buNone/>
                      </a:pPr>
                      <a:r>
                        <a:rPr lang="en-US" sz="1400" b="1" dirty="0">
                          <a:solidFill>
                            <a:schemeClr val="tx1"/>
                          </a:solidFill>
                        </a:rPr>
                        <a:t>0.848</a:t>
                      </a:r>
                      <a:endParaRPr lang="en-US" sz="1400" dirty="0"/>
                    </a:p>
                  </a:txBody>
                  <a:tcPr marL="91440" marR="91440" marT="45720" marB="45720">
                    <a:lnL w="6350" cap="flat" cmpd="sng" algn="ctr">
                      <a:solidFill>
                        <a:srgbClr val="DDE5E4"/>
                      </a:solidFill>
                      <a:prstDash val="solid"/>
                      <a:round/>
                      <a:headEnd type="none" w="med" len="med"/>
                      <a:tailEnd type="none" w="med" len="med"/>
                    </a:lnL>
                    <a:lnR w="6350" cap="flat" cmpd="sng" algn="ctr">
                      <a:solidFill>
                        <a:srgbClr val="DDE5E4"/>
                      </a:solidFill>
                      <a:prstDash val="solid"/>
                      <a:round/>
                      <a:headEnd type="none" w="med" len="med"/>
                      <a:tailEnd type="none" w="med" len="med"/>
                    </a:lnR>
                    <a:lnT w="6350" cap="flat" cmpd="sng" algn="ctr">
                      <a:solidFill>
                        <a:srgbClr val="DDE5E4"/>
                      </a:solidFill>
                      <a:prstDash val="solid"/>
                      <a:round/>
                      <a:headEnd type="none" w="med" len="med"/>
                      <a:tailEnd type="none" w="med" len="med"/>
                    </a:lnT>
                    <a:lnB w="6350" cap="flat" cmpd="sng" algn="ctr">
                      <a:solidFill>
                        <a:srgbClr val="DDE5E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+0.001</a:t>
                      </a:r>
                      <a:endParaRPr lang="en-US" sz="1400" dirty="0"/>
                    </a:p>
                  </a:txBody>
                  <a:tcPr marL="91440" marR="91440" marT="45720" marB="45720">
                    <a:lnL w="6350" cap="flat" cmpd="sng" algn="ctr">
                      <a:solidFill>
                        <a:srgbClr val="DDE5E4"/>
                      </a:solidFill>
                      <a:prstDash val="solid"/>
                      <a:round/>
                      <a:headEnd type="none" w="med" len="med"/>
                      <a:tailEnd type="none" w="med" len="med"/>
                    </a:lnL>
                    <a:lnR w="6350" cap="flat" cmpd="sng" algn="ctr">
                      <a:solidFill>
                        <a:srgbClr val="DDE5E4"/>
                      </a:solidFill>
                      <a:prstDash val="solid"/>
                      <a:round/>
                      <a:headEnd type="none" w="med" len="med"/>
                      <a:tailEnd type="none" w="med" len="med"/>
                    </a:lnR>
                    <a:lnT w="6350" cap="flat" cmpd="sng" algn="ctr">
                      <a:solidFill>
                        <a:srgbClr val="DDE5E4"/>
                      </a:solidFill>
                      <a:prstDash val="solid"/>
                      <a:round/>
                      <a:headEnd type="none" w="med" len="med"/>
                      <a:tailEnd type="none" w="med" len="med"/>
                    </a:lnT>
                    <a:lnB w="6350" cap="flat" cmpd="sng" algn="ctr">
                      <a:solidFill>
                        <a:srgbClr val="DDE5E4"/>
                      </a:solidFill>
                      <a:prstDash val="solid"/>
                      <a:round/>
                      <a:headEnd type="none" w="med" len="med"/>
                      <a:tailEnd type="none" w="med" len="med"/>
                    </a:lnB>
                    <a:solidFill>
                      <a:schemeClr val="bg1"/>
                    </a:solidFill>
                  </a:tcPr>
                </a:tc>
              </a:tr>
              <a:tr h="384048">
                <a:tc>
                  <a:txBody>
                    <a:bodyPr/>
                    <a:lstStyle/>
                    <a:p>
                      <a:pPr indent="0" marL="0">
                        <a:buNone/>
                      </a:pPr>
                      <a:r>
                        <a:rPr lang="en-US" sz="1400" dirty="0">
                          <a:solidFill>
                            <a:schemeClr val="tx1"/>
                          </a:solidFill>
                        </a:rPr>
                        <a:t>Inbar12, Inbar2, Inbar11, inbar4</a:t>
                      </a:r>
                      <a:endParaRPr lang="en-US" sz="1400" dirty="0"/>
                    </a:p>
                  </a:txBody>
                  <a:tcPr marL="91440" marR="91440" marT="45720" marB="45720">
                    <a:lnL w="6350" cap="flat" cmpd="sng" algn="ctr">
                      <a:solidFill>
                        <a:srgbClr val="DDE5E4"/>
                      </a:solidFill>
                      <a:prstDash val="solid"/>
                      <a:round/>
                      <a:headEnd type="none" w="med" len="med"/>
                      <a:tailEnd type="none" w="med" len="med"/>
                    </a:lnL>
                    <a:lnR w="6350" cap="flat" cmpd="sng" algn="ctr">
                      <a:solidFill>
                        <a:srgbClr val="DDE5E4"/>
                      </a:solidFill>
                      <a:prstDash val="solid"/>
                      <a:round/>
                      <a:headEnd type="none" w="med" len="med"/>
                      <a:tailEnd type="none" w="med" len="med"/>
                    </a:lnR>
                    <a:lnT w="6350" cap="flat" cmpd="sng" algn="ctr">
                      <a:solidFill>
                        <a:srgbClr val="DDE5E4"/>
                      </a:solidFill>
                      <a:prstDash val="solid"/>
                      <a:round/>
                      <a:headEnd type="none" w="med" len="med"/>
                      <a:tailEnd type="none" w="med" len="med"/>
                    </a:lnT>
                    <a:lnB w="6350" cap="flat" cmpd="sng" algn="ctr">
                      <a:solidFill>
                        <a:srgbClr val="DDE5E4"/>
                      </a:solidFill>
                      <a:prstDash val="solid"/>
                      <a:round/>
                      <a:headEnd type="none" w="med" len="med"/>
                      <a:tailEnd type="none" w="med" len="med"/>
                    </a:lnB>
                    <a:solidFill>
                      <a:schemeClr val="bg1"/>
                    </a:solidFill>
                  </a:tcPr>
                </a:tc>
                <a:tc>
                  <a:txBody>
                    <a:bodyPr/>
                    <a:lstStyle/>
                    <a:p>
                      <a:pPr indent="0" marL="0">
                        <a:buNone/>
                      </a:pPr>
                      <a:r>
                        <a:rPr lang="en-US" sz="1400" b="1" dirty="0">
                          <a:solidFill>
                            <a:schemeClr val="tx1"/>
                          </a:solidFill>
                        </a:rPr>
                        <a:t>0.826</a:t>
                      </a:r>
                      <a:endParaRPr lang="en-US" sz="1400" dirty="0"/>
                    </a:p>
                  </a:txBody>
                  <a:tcPr marL="91440" marR="91440" marT="45720" marB="45720">
                    <a:lnL w="6350" cap="flat" cmpd="sng" algn="ctr">
                      <a:solidFill>
                        <a:srgbClr val="DDE5E4"/>
                      </a:solidFill>
                      <a:prstDash val="solid"/>
                      <a:round/>
                      <a:headEnd type="none" w="med" len="med"/>
                      <a:tailEnd type="none" w="med" len="med"/>
                    </a:lnL>
                    <a:lnR w="6350" cap="flat" cmpd="sng" algn="ctr">
                      <a:solidFill>
                        <a:srgbClr val="DDE5E4"/>
                      </a:solidFill>
                      <a:prstDash val="solid"/>
                      <a:round/>
                      <a:headEnd type="none" w="med" len="med"/>
                      <a:tailEnd type="none" w="med" len="med"/>
                    </a:lnR>
                    <a:lnT w="6350" cap="flat" cmpd="sng" algn="ctr">
                      <a:solidFill>
                        <a:srgbClr val="DDE5E4"/>
                      </a:solidFill>
                      <a:prstDash val="solid"/>
                      <a:round/>
                      <a:headEnd type="none" w="med" len="med"/>
                      <a:tailEnd type="none" w="med" len="med"/>
                    </a:lnT>
                    <a:lnB w="6350" cap="flat" cmpd="sng" algn="ctr">
                      <a:solidFill>
                        <a:srgbClr val="DDE5E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0.817</a:t>
                      </a:r>
                      <a:endParaRPr lang="en-US" sz="1400" dirty="0"/>
                    </a:p>
                  </a:txBody>
                  <a:tcPr marL="91440" marR="91440" marT="45720" marB="45720">
                    <a:lnL w="6350" cap="flat" cmpd="sng" algn="ctr">
                      <a:solidFill>
                        <a:srgbClr val="DDE5E4"/>
                      </a:solidFill>
                      <a:prstDash val="solid"/>
                      <a:round/>
                      <a:headEnd type="none" w="med" len="med"/>
                      <a:tailEnd type="none" w="med" len="med"/>
                    </a:lnL>
                    <a:lnR w="6350" cap="flat" cmpd="sng" algn="ctr">
                      <a:solidFill>
                        <a:srgbClr val="DDE5E4"/>
                      </a:solidFill>
                      <a:prstDash val="solid"/>
                      <a:round/>
                      <a:headEnd type="none" w="med" len="med"/>
                      <a:tailEnd type="none" w="med" len="med"/>
                    </a:lnR>
                    <a:lnT w="6350" cap="flat" cmpd="sng" algn="ctr">
                      <a:solidFill>
                        <a:srgbClr val="DDE5E4"/>
                      </a:solidFill>
                      <a:prstDash val="solid"/>
                      <a:round/>
                      <a:headEnd type="none" w="med" len="med"/>
                      <a:tailEnd type="none" w="med" len="med"/>
                    </a:lnT>
                    <a:lnB w="6350" cap="flat" cmpd="sng" algn="ctr">
                      <a:solidFill>
                        <a:srgbClr val="DDE5E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−0.009</a:t>
                      </a:r>
                      <a:endParaRPr lang="en-US" sz="1400" dirty="0"/>
                    </a:p>
                  </a:txBody>
                  <a:tcPr marL="91440" marR="91440" marT="45720" marB="45720">
                    <a:lnL w="6350" cap="flat" cmpd="sng" algn="ctr">
                      <a:solidFill>
                        <a:srgbClr val="DDE5E4"/>
                      </a:solidFill>
                      <a:prstDash val="solid"/>
                      <a:round/>
                      <a:headEnd type="none" w="med" len="med"/>
                      <a:tailEnd type="none" w="med" len="med"/>
                    </a:lnL>
                    <a:lnR w="6350" cap="flat" cmpd="sng" algn="ctr">
                      <a:solidFill>
                        <a:srgbClr val="DDE5E4"/>
                      </a:solidFill>
                      <a:prstDash val="solid"/>
                      <a:round/>
                      <a:headEnd type="none" w="med" len="med"/>
                      <a:tailEnd type="none" w="med" len="med"/>
                    </a:lnR>
                    <a:lnT w="6350" cap="flat" cmpd="sng" algn="ctr">
                      <a:solidFill>
                        <a:srgbClr val="DDE5E4"/>
                      </a:solidFill>
                      <a:prstDash val="solid"/>
                      <a:round/>
                      <a:headEnd type="none" w="med" len="med"/>
                      <a:tailEnd type="none" w="med" len="med"/>
                    </a:lnT>
                    <a:lnB w="6350" cap="flat" cmpd="sng" algn="ctr">
                      <a:solidFill>
                        <a:srgbClr val="DDE5E4"/>
                      </a:solidFill>
                      <a:prstDash val="solid"/>
                      <a:round/>
                      <a:headEnd type="none" w="med" len="med"/>
                      <a:tailEnd type="none" w="med" len="med"/>
                    </a:lnB>
                    <a:solidFill>
                      <a:schemeClr val="bg1"/>
                    </a:solidFill>
                  </a:tcPr>
                </a:tc>
              </a:tr>
            </a:tbl>
          </a:graphicData>
        </a:graphic>
      </p:graphicFrame>
      <p:sp>
        <p:nvSpPr>
          <p:cNvPr id="4" name="mixing caption"/>
          <p:cNvSpPr txBox="1"/>
          <p:nvPr/>
        </p:nvSpPr>
        <p:spPr>
          <a:xfrm>
            <a:off x="548640" y="4983480"/>
            <a:ext cx="11094415" cy="548640"/>
          </a:xfrm>
          <a:prstGeom prst="rect">
            <a:avLst/>
          </a:prstGeom>
          <a:noFill/>
          <a:ln/>
        </p:spPr>
        <p:txBody>
          <a:bodyPr wrap="square" lIns="0" tIns="0" rIns="0" bIns="0" rtlCol="0" anchor="t"/>
          <a:lstStyle/>
          <a:p>
            <a:pPr indent="0" marL="0">
              <a:buNone/>
            </a:pPr>
            <a:r>
              <a:rPr lang="en-US" sz="1500" b="1" dirty="0">
                <a:solidFill>
                  <a:schemeClr val="tx2"/>
                </a:solidFill>
              </a:rPr>
              <a:t>Mixing both labs lands in between: </a:t>
            </a:r>
            <a:pPr indent="0" marL="0">
              <a:buNone/>
            </a:pPr>
            <a:r>
              <a:rPr lang="en-US" sz="1500" dirty="0">
                <a:solidFill>
                  <a:schemeClr val="tx1"/>
                </a:solidFill>
              </a:rPr>
              <a:t>0.821–0.832 on the hard Stav set and 0.767 on the hard Inbar set, where weighting the labs equally helps on Stav but not on Inbar.</a:t>
            </a:r>
            <a:endParaRPr lang="en-US" sz="1500" dirty="0"/>
          </a:p>
        </p:txBody>
      </p:sp>
      <p:sp>
        <p:nvSpPr>
          <p:cNvPr id="5" name="confound caveat"/>
          <p:cNvSpPr txBox="1"/>
          <p:nvPr/>
        </p:nvSpPr>
        <p:spPr>
          <a:xfrm>
            <a:off x="548640" y="5623560"/>
            <a:ext cx="11094415" cy="594360"/>
          </a:xfrm>
          <a:prstGeom prst="rect">
            <a:avLst/>
          </a:prstGeom>
          <a:noFill/>
          <a:ln/>
        </p:spPr>
        <p:txBody>
          <a:bodyPr wrap="square" lIns="0" tIns="0" rIns="0" bIns="0" rtlCol="0" anchor="t"/>
          <a:lstStyle/>
          <a:p>
            <a:pPr indent="0" marL="0">
              <a:buNone/>
            </a:pPr>
            <a:r>
              <a:rPr lang="en-US" sz="1400" i="1" dirty="0">
                <a:solidFill>
                  <a:schemeClr val="accent4"/>
                </a:solidFill>
              </a:rPr>
              <a:t>Caveat: lab and labeller are the same variable here (different mice, rigs and days too). The clean test is both people labelling the same sessions.</a:t>
            </a:r>
            <a:endParaRPr lang="en-US" sz="14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Within a lab, label strictness varies by session</a:t>
            </a:r>
            <a:endParaRPr lang="en-US" sz="3000" dirty="0"/>
          </a:p>
        </p:txBody>
      </p:sp>
      <p:graphicFrame>
        <p:nvGraphicFramePr>
          <p:cNvPr id="3" name="threshold gap chart" descr=""/>
          <p:cNvGraphicFramePr/>
          <p:nvPr/>
        </p:nvGraphicFramePr>
        <p:xfrm>
          <a:off x="548640" y="1234440"/>
          <a:ext cx="6766560" cy="3931920"/>
        </p:xfrm>
        <a:graphic xmlns:a="http://schemas.openxmlformats.org/drawingml/2006/main">
          <a:graphicData uri="http://schemas.openxmlformats.org/drawingml/2006/chart">
            <c:chart xmlns:c="http://schemas.openxmlformats.org/drawingml/2006/chart" r:id="rId1"/>
          </a:graphicData>
        </a:graphic>
      </p:graphicFrame>
      <p:sp>
        <p:nvSpPr>
          <p:cNvPr id="4" name="gap chart caption"/>
          <p:cNvSpPr txBox="1"/>
          <p:nvPr/>
        </p:nvSpPr>
        <p:spPr>
          <a:xfrm>
            <a:off x="548640" y="5257800"/>
            <a:ext cx="6766560" cy="502920"/>
          </a:xfrm>
          <a:prstGeom prst="rect">
            <a:avLst/>
          </a:prstGeom>
          <a:noFill/>
          <a:ln/>
        </p:spPr>
        <p:txBody>
          <a:bodyPr wrap="square" lIns="0" tIns="0" rIns="0" bIns="0" rtlCol="0" anchor="ctr"/>
          <a:lstStyle/>
          <a:p>
            <a:pPr indent="0" marL="0">
              <a:buNone/>
            </a:pPr>
            <a:r>
              <a:rPr lang="en-US" sz="1200" i="1" dirty="0">
                <a:solidFill>
                  <a:schemeClr val="accent4"/>
                </a:solidFill>
              </a:rPr>
              <a:t>Same model, only the cut-off changes. Inbar: trained on Stav + other Inbar; Stav14: trained on other Stav.</a:t>
            </a:r>
            <a:endParaRPr lang="en-US" sz="1200" dirty="0"/>
          </a:p>
        </p:txBody>
      </p:sp>
      <p:graphicFrame>
        <p:nvGraphicFramePr>
          <p:cNvPr id="15" name="lab hold-out table"/>
          <p:cNvGraphicFramePr>
            <a:graphicFrameLocks noGrp="1"/>
          </p:cNvGraphicFramePr>
          <p:nvPr>
            <p:extLst>
              <p:ext uri="{D42A27DB-BD31-4B8C-83A1-F6EECF244321}">
                <p14:modId xmlns:p14="http://schemas.microsoft.com/office/powerpoint/2010/main" val="1579011935"/>
              </p:ext>
            </p:extLst>
          </p:nvPr>
        </p:nvGraphicFramePr>
        <p:xfrm>
          <a:off x="7680960" y="1325880"/>
          <a:ext cx="3962095" cy="914400"/>
        </p:xfrm>
        <a:graphic>
          <a:graphicData uri="http://schemas.openxmlformats.org/drawingml/2006/table">
            <a:tbl>
              <a:tblPr/>
              <a:tblGrid>
                <a:gridCol w="1584838"/>
                <a:gridCol w="1267870"/>
                <a:gridCol w="1109387"/>
              </a:tblGrid>
              <a:tr h="384048">
                <a:tc>
                  <a:txBody>
                    <a:bodyPr/>
                    <a:lstStyle/>
                    <a:p>
                      <a:pPr indent="0" marL="0">
                        <a:buNone/>
                      </a:pPr>
                      <a:r>
                        <a:rPr lang="en-US" sz="1400" b="1" dirty="0">
                          <a:solidFill>
                            <a:schemeClr val="bg1"/>
                          </a:solidFill>
                        </a:rPr>
                        <a:t>Trained on</a:t>
                      </a:r>
                      <a:endParaRPr lang="en-US" sz="1400" dirty="0"/>
                    </a:p>
                  </a:txBody>
                  <a:tcPr marL="91440" marR="91440" marT="45720" marB="45720">
                    <a:lnL w="6350" cap="flat" cmpd="sng" algn="ctr">
                      <a:solidFill>
                        <a:srgbClr val="DDE5E4"/>
                      </a:solidFill>
                      <a:prstDash val="solid"/>
                      <a:round/>
                      <a:headEnd type="none" w="med" len="med"/>
                      <a:tailEnd type="none" w="med" len="med"/>
                    </a:lnL>
                    <a:lnR w="6350" cap="flat" cmpd="sng" algn="ctr">
                      <a:solidFill>
                        <a:srgbClr val="DDE5E4"/>
                      </a:solidFill>
                      <a:prstDash val="solid"/>
                      <a:round/>
                      <a:headEnd type="none" w="med" len="med"/>
                      <a:tailEnd type="none" w="med" len="med"/>
                    </a:lnR>
                    <a:lnT w="6350" cap="flat" cmpd="sng" algn="ctr">
                      <a:solidFill>
                        <a:srgbClr val="DDE5E4"/>
                      </a:solidFill>
                      <a:prstDash val="solid"/>
                      <a:round/>
                      <a:headEnd type="none" w="med" len="med"/>
                      <a:tailEnd type="none" w="med" len="med"/>
                    </a:lnT>
                    <a:lnB w="6350" cap="flat" cmpd="sng" algn="ctr">
                      <a:solidFill>
                        <a:srgbClr val="DDE5E4"/>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4 hard Inbar</a:t>
                      </a:r>
                      <a:endParaRPr lang="en-US" sz="1400" dirty="0"/>
                    </a:p>
                  </a:txBody>
                  <a:tcPr marL="91440" marR="91440" marT="45720" marB="45720">
                    <a:lnL w="6350" cap="flat" cmpd="sng" algn="ctr">
                      <a:solidFill>
                        <a:srgbClr val="DDE5E4"/>
                      </a:solidFill>
                      <a:prstDash val="solid"/>
                      <a:round/>
                      <a:headEnd type="none" w="med" len="med"/>
                      <a:tailEnd type="none" w="med" len="med"/>
                    </a:lnL>
                    <a:lnR w="6350" cap="flat" cmpd="sng" algn="ctr">
                      <a:solidFill>
                        <a:srgbClr val="DDE5E4"/>
                      </a:solidFill>
                      <a:prstDash val="solid"/>
                      <a:round/>
                      <a:headEnd type="none" w="med" len="med"/>
                      <a:tailEnd type="none" w="med" len="med"/>
                    </a:lnR>
                    <a:lnT w="6350" cap="flat" cmpd="sng" algn="ctr">
                      <a:solidFill>
                        <a:srgbClr val="DDE5E4"/>
                      </a:solidFill>
                      <a:prstDash val="solid"/>
                      <a:round/>
                      <a:headEnd type="none" w="med" len="med"/>
                      <a:tailEnd type="none" w="med" len="med"/>
                    </a:lnT>
                    <a:lnB w="6350" cap="flat" cmpd="sng" algn="ctr">
                      <a:solidFill>
                        <a:srgbClr val="DDE5E4"/>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Stav14</a:t>
                      </a:r>
                      <a:endParaRPr lang="en-US" sz="1400" dirty="0"/>
                    </a:p>
                  </a:txBody>
                  <a:tcPr marL="91440" marR="91440" marT="45720" marB="45720">
                    <a:lnL w="6350" cap="flat" cmpd="sng" algn="ctr">
                      <a:solidFill>
                        <a:srgbClr val="DDE5E4"/>
                      </a:solidFill>
                      <a:prstDash val="solid"/>
                      <a:round/>
                      <a:headEnd type="none" w="med" len="med"/>
                      <a:tailEnd type="none" w="med" len="med"/>
                    </a:lnL>
                    <a:lnR w="6350" cap="flat" cmpd="sng" algn="ctr">
                      <a:solidFill>
                        <a:srgbClr val="DDE5E4"/>
                      </a:solidFill>
                      <a:prstDash val="solid"/>
                      <a:round/>
                      <a:headEnd type="none" w="med" len="med"/>
                      <a:tailEnd type="none" w="med" len="med"/>
                    </a:lnR>
                    <a:lnT w="6350" cap="flat" cmpd="sng" algn="ctr">
                      <a:solidFill>
                        <a:srgbClr val="DDE5E4"/>
                      </a:solidFill>
                      <a:prstDash val="solid"/>
                      <a:round/>
                      <a:headEnd type="none" w="med" len="med"/>
                      <a:tailEnd type="none" w="med" len="med"/>
                    </a:lnT>
                    <a:lnB w="6350" cap="flat" cmpd="sng" algn="ctr">
                      <a:solidFill>
                        <a:srgbClr val="DDE5E4"/>
                      </a:solidFill>
                      <a:prstDash val="solid"/>
                      <a:round/>
                      <a:headEnd type="none" w="med" len="med"/>
                      <a:tailEnd type="none" w="med" len="med"/>
                    </a:lnB>
                    <a:solidFill>
                      <a:schemeClr val="tx2"/>
                    </a:solidFill>
                  </a:tcPr>
                </a:tc>
              </a:tr>
              <a:tr h="384048">
                <a:tc>
                  <a:txBody>
                    <a:bodyPr/>
                    <a:lstStyle/>
                    <a:p>
                      <a:pPr indent="0" marL="0">
                        <a:buNone/>
                      </a:pPr>
                      <a:r>
                        <a:rPr lang="en-US" sz="1400" dirty="0">
                          <a:solidFill>
                            <a:schemeClr val="tx1"/>
                          </a:solidFill>
                        </a:rPr>
                        <a:t>Stav only</a:t>
                      </a:r>
                      <a:endParaRPr lang="en-US" sz="1400" dirty="0"/>
                    </a:p>
                  </a:txBody>
                  <a:tcPr marL="91440" marR="91440" marT="45720" marB="45720">
                    <a:lnL w="6350" cap="flat" cmpd="sng" algn="ctr">
                      <a:solidFill>
                        <a:srgbClr val="DDE5E4"/>
                      </a:solidFill>
                      <a:prstDash val="solid"/>
                      <a:round/>
                      <a:headEnd type="none" w="med" len="med"/>
                      <a:tailEnd type="none" w="med" len="med"/>
                    </a:lnL>
                    <a:lnR w="6350" cap="flat" cmpd="sng" algn="ctr">
                      <a:solidFill>
                        <a:srgbClr val="DDE5E4"/>
                      </a:solidFill>
                      <a:prstDash val="solid"/>
                      <a:round/>
                      <a:headEnd type="none" w="med" len="med"/>
                      <a:tailEnd type="none" w="med" len="med"/>
                    </a:lnR>
                    <a:lnT w="6350" cap="flat" cmpd="sng" algn="ctr">
                      <a:solidFill>
                        <a:srgbClr val="DDE5E4"/>
                      </a:solidFill>
                      <a:prstDash val="solid"/>
                      <a:round/>
                      <a:headEnd type="none" w="med" len="med"/>
                      <a:tailEnd type="none" w="med" len="med"/>
                    </a:lnT>
                    <a:lnB w="6350" cap="flat" cmpd="sng" algn="ctr">
                      <a:solidFill>
                        <a:srgbClr val="DDE5E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0.741</a:t>
                      </a:r>
                      <a:endParaRPr lang="en-US" sz="1400" dirty="0"/>
                    </a:p>
                  </a:txBody>
                  <a:tcPr marL="91440" marR="91440" marT="45720" marB="45720">
                    <a:lnL w="6350" cap="flat" cmpd="sng" algn="ctr">
                      <a:solidFill>
                        <a:srgbClr val="DDE5E4"/>
                      </a:solidFill>
                      <a:prstDash val="solid"/>
                      <a:round/>
                      <a:headEnd type="none" w="med" len="med"/>
                      <a:tailEnd type="none" w="med" len="med"/>
                    </a:lnL>
                    <a:lnR w="6350" cap="flat" cmpd="sng" algn="ctr">
                      <a:solidFill>
                        <a:srgbClr val="DDE5E4"/>
                      </a:solidFill>
                      <a:prstDash val="solid"/>
                      <a:round/>
                      <a:headEnd type="none" w="med" len="med"/>
                      <a:tailEnd type="none" w="med" len="med"/>
                    </a:lnR>
                    <a:lnT w="6350" cap="flat" cmpd="sng" algn="ctr">
                      <a:solidFill>
                        <a:srgbClr val="DDE5E4"/>
                      </a:solidFill>
                      <a:prstDash val="solid"/>
                      <a:round/>
                      <a:headEnd type="none" w="med" len="med"/>
                      <a:tailEnd type="none" w="med" len="med"/>
                    </a:lnT>
                    <a:lnB w="6350" cap="flat" cmpd="sng" algn="ctr">
                      <a:solidFill>
                        <a:srgbClr val="DDE5E4"/>
                      </a:solidFill>
                      <a:prstDash val="solid"/>
                      <a:round/>
                      <a:headEnd type="none" w="med" len="med"/>
                      <a:tailEnd type="none" w="med" len="med"/>
                    </a:lnB>
                    <a:solidFill>
                      <a:schemeClr val="bg1"/>
                    </a:solidFill>
                  </a:tcPr>
                </a:tc>
                <a:tc>
                  <a:txBody>
                    <a:bodyPr/>
                    <a:lstStyle/>
                    <a:p>
                      <a:pPr indent="0" marL="0">
                        <a:buNone/>
                      </a:pPr>
                      <a:r>
                        <a:rPr lang="en-US" sz="1400" b="1" dirty="0">
                          <a:solidFill>
                            <a:schemeClr val="tx1"/>
                          </a:solidFill>
                        </a:rPr>
                        <a:t>0.774</a:t>
                      </a:r>
                      <a:endParaRPr lang="en-US" sz="1400" dirty="0"/>
                    </a:p>
                  </a:txBody>
                  <a:tcPr marL="91440" marR="91440" marT="45720" marB="45720">
                    <a:lnL w="6350" cap="flat" cmpd="sng" algn="ctr">
                      <a:solidFill>
                        <a:srgbClr val="DDE5E4"/>
                      </a:solidFill>
                      <a:prstDash val="solid"/>
                      <a:round/>
                      <a:headEnd type="none" w="med" len="med"/>
                      <a:tailEnd type="none" w="med" len="med"/>
                    </a:lnL>
                    <a:lnR w="6350" cap="flat" cmpd="sng" algn="ctr">
                      <a:solidFill>
                        <a:srgbClr val="DDE5E4"/>
                      </a:solidFill>
                      <a:prstDash val="solid"/>
                      <a:round/>
                      <a:headEnd type="none" w="med" len="med"/>
                      <a:tailEnd type="none" w="med" len="med"/>
                    </a:lnR>
                    <a:lnT w="6350" cap="flat" cmpd="sng" algn="ctr">
                      <a:solidFill>
                        <a:srgbClr val="DDE5E4"/>
                      </a:solidFill>
                      <a:prstDash val="solid"/>
                      <a:round/>
                      <a:headEnd type="none" w="med" len="med"/>
                      <a:tailEnd type="none" w="med" len="med"/>
                    </a:lnT>
                    <a:lnB w="6350" cap="flat" cmpd="sng" algn="ctr">
                      <a:solidFill>
                        <a:srgbClr val="DDE5E4"/>
                      </a:solidFill>
                      <a:prstDash val="solid"/>
                      <a:round/>
                      <a:headEnd type="none" w="med" len="med"/>
                      <a:tailEnd type="none" w="med" len="med"/>
                    </a:lnB>
                    <a:solidFill>
                      <a:schemeClr val="bg1"/>
                    </a:solidFill>
                  </a:tcPr>
                </a:tc>
              </a:tr>
              <a:tr h="384048">
                <a:tc>
                  <a:txBody>
                    <a:bodyPr/>
                    <a:lstStyle/>
                    <a:p>
                      <a:pPr indent="0" marL="0">
                        <a:buNone/>
                      </a:pPr>
                      <a:r>
                        <a:rPr lang="en-US" sz="1400" dirty="0">
                          <a:solidFill>
                            <a:schemeClr val="tx1"/>
                          </a:solidFill>
                        </a:rPr>
                        <a:t>Inbar only</a:t>
                      </a:r>
                      <a:endParaRPr lang="en-US" sz="1400" dirty="0"/>
                    </a:p>
                  </a:txBody>
                  <a:tcPr marL="91440" marR="91440" marT="45720" marB="45720">
                    <a:lnL w="6350" cap="flat" cmpd="sng" algn="ctr">
                      <a:solidFill>
                        <a:srgbClr val="DDE5E4"/>
                      </a:solidFill>
                      <a:prstDash val="solid"/>
                      <a:round/>
                      <a:headEnd type="none" w="med" len="med"/>
                      <a:tailEnd type="none" w="med" len="med"/>
                    </a:lnL>
                    <a:lnR w="6350" cap="flat" cmpd="sng" algn="ctr">
                      <a:solidFill>
                        <a:srgbClr val="DDE5E4"/>
                      </a:solidFill>
                      <a:prstDash val="solid"/>
                      <a:round/>
                      <a:headEnd type="none" w="med" len="med"/>
                      <a:tailEnd type="none" w="med" len="med"/>
                    </a:lnR>
                    <a:lnT w="6350" cap="flat" cmpd="sng" algn="ctr">
                      <a:solidFill>
                        <a:srgbClr val="DDE5E4"/>
                      </a:solidFill>
                      <a:prstDash val="solid"/>
                      <a:round/>
                      <a:headEnd type="none" w="med" len="med"/>
                      <a:tailEnd type="none" w="med" len="med"/>
                    </a:lnT>
                    <a:lnB w="6350" cap="flat" cmpd="sng" algn="ctr">
                      <a:solidFill>
                        <a:srgbClr val="DDE5E4"/>
                      </a:solidFill>
                      <a:prstDash val="solid"/>
                      <a:round/>
                      <a:headEnd type="none" w="med" len="med"/>
                      <a:tailEnd type="none" w="med" len="med"/>
                    </a:lnB>
                    <a:solidFill>
                      <a:schemeClr val="bg1"/>
                    </a:solidFill>
                  </a:tcPr>
                </a:tc>
                <a:tc>
                  <a:txBody>
                    <a:bodyPr/>
                    <a:lstStyle/>
                    <a:p>
                      <a:pPr indent="0" marL="0">
                        <a:buNone/>
                      </a:pPr>
                      <a:r>
                        <a:rPr lang="en-US" sz="1400" b="1" dirty="0">
                          <a:solidFill>
                            <a:schemeClr val="tx1"/>
                          </a:solidFill>
                        </a:rPr>
                        <a:t>0.782</a:t>
                      </a:r>
                      <a:endParaRPr lang="en-US" sz="1400" dirty="0"/>
                    </a:p>
                  </a:txBody>
                  <a:tcPr marL="91440" marR="91440" marT="45720" marB="45720">
                    <a:lnL w="6350" cap="flat" cmpd="sng" algn="ctr">
                      <a:solidFill>
                        <a:srgbClr val="DDE5E4"/>
                      </a:solidFill>
                      <a:prstDash val="solid"/>
                      <a:round/>
                      <a:headEnd type="none" w="med" len="med"/>
                      <a:tailEnd type="none" w="med" len="med"/>
                    </a:lnL>
                    <a:lnR w="6350" cap="flat" cmpd="sng" algn="ctr">
                      <a:solidFill>
                        <a:srgbClr val="DDE5E4"/>
                      </a:solidFill>
                      <a:prstDash val="solid"/>
                      <a:round/>
                      <a:headEnd type="none" w="med" len="med"/>
                      <a:tailEnd type="none" w="med" len="med"/>
                    </a:lnR>
                    <a:lnT w="6350" cap="flat" cmpd="sng" algn="ctr">
                      <a:solidFill>
                        <a:srgbClr val="DDE5E4"/>
                      </a:solidFill>
                      <a:prstDash val="solid"/>
                      <a:round/>
                      <a:headEnd type="none" w="med" len="med"/>
                      <a:tailEnd type="none" w="med" len="med"/>
                    </a:lnT>
                    <a:lnB w="6350" cap="flat" cmpd="sng" algn="ctr">
                      <a:solidFill>
                        <a:srgbClr val="DDE5E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0.744</a:t>
                      </a:r>
                      <a:endParaRPr lang="en-US" sz="1400" dirty="0"/>
                    </a:p>
                  </a:txBody>
                  <a:tcPr marL="91440" marR="91440" marT="45720" marB="45720">
                    <a:lnL w="6350" cap="flat" cmpd="sng" algn="ctr">
                      <a:solidFill>
                        <a:srgbClr val="DDE5E4"/>
                      </a:solidFill>
                      <a:prstDash val="solid"/>
                      <a:round/>
                      <a:headEnd type="none" w="med" len="med"/>
                      <a:tailEnd type="none" w="med" len="med"/>
                    </a:lnL>
                    <a:lnR w="6350" cap="flat" cmpd="sng" algn="ctr">
                      <a:solidFill>
                        <a:srgbClr val="DDE5E4"/>
                      </a:solidFill>
                      <a:prstDash val="solid"/>
                      <a:round/>
                      <a:headEnd type="none" w="med" len="med"/>
                      <a:tailEnd type="none" w="med" len="med"/>
                    </a:lnR>
                    <a:lnT w="6350" cap="flat" cmpd="sng" algn="ctr">
                      <a:solidFill>
                        <a:srgbClr val="DDE5E4"/>
                      </a:solidFill>
                      <a:prstDash val="solid"/>
                      <a:round/>
                      <a:headEnd type="none" w="med" len="med"/>
                      <a:tailEnd type="none" w="med" len="med"/>
                    </a:lnT>
                    <a:lnB w="6350" cap="flat" cmpd="sng" algn="ctr">
                      <a:solidFill>
                        <a:srgbClr val="DDE5E4"/>
                      </a:solidFill>
                      <a:prstDash val="solid"/>
                      <a:round/>
                      <a:headEnd type="none" w="med" len="med"/>
                      <a:tailEnd type="none" w="med" len="med"/>
                    </a:lnB>
                    <a:solidFill>
                      <a:schemeClr val="bg1"/>
                    </a:solidFill>
                  </a:tcPr>
                </a:tc>
              </a:tr>
              <a:tr h="384048">
                <a:tc>
                  <a:txBody>
                    <a:bodyPr/>
                    <a:lstStyle/>
                    <a:p>
                      <a:pPr indent="0" marL="0">
                        <a:buNone/>
                      </a:pPr>
                      <a:r>
                        <a:rPr lang="en-US" sz="1400" dirty="0">
                          <a:solidFill>
                            <a:schemeClr val="tx1"/>
                          </a:solidFill>
                        </a:rPr>
                        <a:t>Both labs</a:t>
                      </a:r>
                      <a:endParaRPr lang="en-US" sz="1400" dirty="0"/>
                    </a:p>
                  </a:txBody>
                  <a:tcPr marL="91440" marR="91440" marT="45720" marB="45720">
                    <a:lnL w="6350" cap="flat" cmpd="sng" algn="ctr">
                      <a:solidFill>
                        <a:srgbClr val="DDE5E4"/>
                      </a:solidFill>
                      <a:prstDash val="solid"/>
                      <a:round/>
                      <a:headEnd type="none" w="med" len="med"/>
                      <a:tailEnd type="none" w="med" len="med"/>
                    </a:lnL>
                    <a:lnR w="6350" cap="flat" cmpd="sng" algn="ctr">
                      <a:solidFill>
                        <a:srgbClr val="DDE5E4"/>
                      </a:solidFill>
                      <a:prstDash val="solid"/>
                      <a:round/>
                      <a:headEnd type="none" w="med" len="med"/>
                      <a:tailEnd type="none" w="med" len="med"/>
                    </a:lnR>
                    <a:lnT w="6350" cap="flat" cmpd="sng" algn="ctr">
                      <a:solidFill>
                        <a:srgbClr val="DDE5E4"/>
                      </a:solidFill>
                      <a:prstDash val="solid"/>
                      <a:round/>
                      <a:headEnd type="none" w="med" len="med"/>
                      <a:tailEnd type="none" w="med" len="med"/>
                    </a:lnT>
                    <a:lnB w="6350" cap="flat" cmpd="sng" algn="ctr">
                      <a:solidFill>
                        <a:srgbClr val="DDE5E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0.767</a:t>
                      </a:r>
                      <a:endParaRPr lang="en-US" sz="1400" dirty="0"/>
                    </a:p>
                  </a:txBody>
                  <a:tcPr marL="91440" marR="91440" marT="45720" marB="45720">
                    <a:lnL w="6350" cap="flat" cmpd="sng" algn="ctr">
                      <a:solidFill>
                        <a:srgbClr val="DDE5E4"/>
                      </a:solidFill>
                      <a:prstDash val="solid"/>
                      <a:round/>
                      <a:headEnd type="none" w="med" len="med"/>
                      <a:tailEnd type="none" w="med" len="med"/>
                    </a:lnL>
                    <a:lnR w="6350" cap="flat" cmpd="sng" algn="ctr">
                      <a:solidFill>
                        <a:srgbClr val="DDE5E4"/>
                      </a:solidFill>
                      <a:prstDash val="solid"/>
                      <a:round/>
                      <a:headEnd type="none" w="med" len="med"/>
                      <a:tailEnd type="none" w="med" len="med"/>
                    </a:lnR>
                    <a:lnT w="6350" cap="flat" cmpd="sng" algn="ctr">
                      <a:solidFill>
                        <a:srgbClr val="DDE5E4"/>
                      </a:solidFill>
                      <a:prstDash val="solid"/>
                      <a:round/>
                      <a:headEnd type="none" w="med" len="med"/>
                      <a:tailEnd type="none" w="med" len="med"/>
                    </a:lnT>
                    <a:lnB w="6350" cap="flat" cmpd="sng" algn="ctr">
                      <a:solidFill>
                        <a:srgbClr val="DDE5E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t>
                      </a:r>
                      <a:endParaRPr lang="en-US" sz="1400" dirty="0"/>
                    </a:p>
                  </a:txBody>
                  <a:tcPr marL="91440" marR="91440" marT="45720" marB="45720">
                    <a:lnL w="6350" cap="flat" cmpd="sng" algn="ctr">
                      <a:solidFill>
                        <a:srgbClr val="DDE5E4"/>
                      </a:solidFill>
                      <a:prstDash val="solid"/>
                      <a:round/>
                      <a:headEnd type="none" w="med" len="med"/>
                      <a:tailEnd type="none" w="med" len="med"/>
                    </a:lnL>
                    <a:lnR w="6350" cap="flat" cmpd="sng" algn="ctr">
                      <a:solidFill>
                        <a:srgbClr val="DDE5E4"/>
                      </a:solidFill>
                      <a:prstDash val="solid"/>
                      <a:round/>
                      <a:headEnd type="none" w="med" len="med"/>
                      <a:tailEnd type="none" w="med" len="med"/>
                    </a:lnR>
                    <a:lnT w="6350" cap="flat" cmpd="sng" algn="ctr">
                      <a:solidFill>
                        <a:srgbClr val="DDE5E4"/>
                      </a:solidFill>
                      <a:prstDash val="solid"/>
                      <a:round/>
                      <a:headEnd type="none" w="med" len="med"/>
                      <a:tailEnd type="none" w="med" len="med"/>
                    </a:lnT>
                    <a:lnB w="6350" cap="flat" cmpd="sng" algn="ctr">
                      <a:solidFill>
                        <a:srgbClr val="DDE5E4"/>
                      </a:solidFill>
                      <a:prstDash val="solid"/>
                      <a:round/>
                      <a:headEnd type="none" w="med" len="med"/>
                      <a:tailEnd type="none" w="med" len="med"/>
                    </a:lnB>
                    <a:solidFill>
                      <a:schemeClr val="bg1"/>
                    </a:solidFill>
                  </a:tcPr>
                </a:tc>
              </a:tr>
            </a:tbl>
          </a:graphicData>
        </a:graphic>
      </p:graphicFrame>
      <p:sp>
        <p:nvSpPr>
          <p:cNvPr id="6" name="labelling text"/>
          <p:cNvSpPr txBox="1"/>
          <p:nvPr/>
        </p:nvSpPr>
        <p:spPr>
          <a:xfrm>
            <a:off x="7680960" y="3154680"/>
            <a:ext cx="3962095" cy="2468880"/>
          </a:xfrm>
          <a:prstGeom prst="rect">
            <a:avLst/>
          </a:prstGeom>
          <a:noFill/>
          <a:ln/>
        </p:spPr>
        <p:txBody>
          <a:bodyPr wrap="square" lIns="0" tIns="0" rIns="0" bIns="0" rtlCol="0" anchor="t"/>
          <a:lstStyle/>
          <a:p>
            <a:pPr indent="0" marL="0">
              <a:spcAft>
                <a:spcPts val="600"/>
              </a:spcAft>
              <a:buNone/>
            </a:pPr>
            <a:r>
              <a:rPr lang="en-US" sz="1500" b="1" dirty="0">
                <a:solidFill>
                  <a:schemeClr val="tx2"/>
                </a:solidFill>
              </a:rPr>
              <a:t>Each lab's labels are best predicted by that lab's data</a:t>
            </a:r>
            <a:endParaRPr lang="en-US" sz="1500" dirty="0"/>
          </a:p>
          <a:p>
            <a:pPr marL="342900" indent="-342900">
              <a:buSzPct val="100000"/>
              <a:buChar char="•"/>
            </a:pPr>
            <a:r>
              <a:rPr lang="en-US" sz="1400" dirty="0">
                <a:solidFill>
                  <a:schemeClr val="tx1"/>
                </a:solidFill>
              </a:rPr>
              <a:t>Inbar3: labelled 26.5% cells, models predict 15–17%</a:t>
            </a:r>
            <a:endParaRPr lang="en-US" sz="1500" dirty="0"/>
          </a:p>
          <a:p>
            <a:pPr marL="342900" indent="-342900">
              <a:buSzPct val="100000"/>
              <a:buChar char="•"/>
            </a:pPr>
            <a:r>
              <a:rPr lang="en-US" sz="1400" dirty="0">
                <a:solidFill>
                  <a:schemeClr val="tx1"/>
                </a:solidFill>
              </a:rPr>
              <a:t>inbar1: labelled 5.2%, models predict about 8%</a:t>
            </a:r>
            <a:endParaRPr lang="en-US" sz="1500" dirty="0"/>
          </a:p>
          <a:p>
            <a:pPr marL="342900" indent="-342900">
              <a:buSzPct val="100000"/>
              <a:buChar char="•"/>
            </a:pPr>
            <a:r>
              <a:rPr lang="en-US" sz="1400" dirty="0">
                <a:solidFill>
                  <a:schemeClr val="tx1"/>
                </a:solidFill>
              </a:rPr>
              <a:t>Stav14: labelled 23.5%, models predict 32–35%</a:t>
            </a:r>
            <a:endParaRPr lang="en-US" sz="15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Ready to use: the image preset in apply_AI.py</a:t>
            </a:r>
            <a:endParaRPr lang="en-US" sz="3000" dirty="0"/>
          </a:p>
        </p:txBody>
      </p:sp>
      <p:sp>
        <p:nvSpPr>
          <p:cNvPr id="3" name="command card"/>
          <p:cNvSpPr/>
          <p:nvPr/>
        </p:nvSpPr>
        <p:spPr>
          <a:xfrm>
            <a:off x="548640" y="1325880"/>
            <a:ext cx="11094415" cy="1143000"/>
          </a:xfrm>
          <a:prstGeom prst="roundRect">
            <a:avLst>
              <a:gd name="adj" fmla="val 9600"/>
            </a:avLst>
          </a:prstGeom>
          <a:solidFill>
            <a:schemeClr val="tx2"/>
          </a:solidFill>
          <a:ln/>
        </p:spPr>
      </p:sp>
      <p:sp>
        <p:nvSpPr>
          <p:cNvPr id="4" name="command text"/>
          <p:cNvSpPr txBox="1"/>
          <p:nvPr/>
        </p:nvSpPr>
        <p:spPr>
          <a:xfrm>
            <a:off x="868680" y="1417320"/>
            <a:ext cx="10454335" cy="960120"/>
          </a:xfrm>
          <a:prstGeom prst="rect">
            <a:avLst/>
          </a:prstGeom>
          <a:noFill/>
          <a:ln/>
        </p:spPr>
        <p:txBody>
          <a:bodyPr wrap="square" lIns="0" tIns="0" rIns="0" bIns="0" rtlCol="0" anchor="ctr"/>
          <a:lstStyle/>
          <a:p>
            <a:pPr indent="0" marL="0">
              <a:buNone/>
            </a:pPr>
            <a:r>
              <a:rPr lang="en-US" sz="2000" b="1" dirty="0">
                <a:solidFill>
                  <a:schemeClr val="bg1"/>
                </a:solidFill>
                <a:latin typeface="Courier New" pitchFamily="34" charset="0"/>
                <a:ea typeface="Courier New" pitchFamily="34" charset="-122"/>
                <a:cs typeface="Courier New" pitchFamily="34" charset="-120"/>
              </a:rPr>
              <a:t>python apply_AI.py /path/to/suite2p/plane0 image</a:t>
            </a:r>
            <a:endParaRPr lang="en-US" sz="2000" dirty="0"/>
          </a:p>
          <a:p>
            <a:pPr indent="0" marL="0">
              <a:buNone/>
            </a:pPr>
            <a:r>
              <a:rPr lang="en-US" sz="1400" dirty="0">
                <a:solidFill>
                  <a:schemeClr val="accent6"/>
                </a:solidFill>
              </a:rPr>
              <a:t>Without 'image', the previous 27-feature model runs exactly as before; nothing in models/ or any iscell file was changed</a:t>
            </a:r>
            <a:endParaRPr lang="en-US" sz="2000" dirty="0"/>
          </a:p>
        </p:txBody>
      </p:sp>
      <p:sp>
        <p:nvSpPr>
          <p:cNvPr id="5" name="deploy card 1"/>
          <p:cNvSpPr/>
          <p:nvPr/>
        </p:nvSpPr>
        <p:spPr>
          <a:xfrm>
            <a:off x="548640" y="2743200"/>
            <a:ext cx="5410048" cy="1600200"/>
          </a:xfrm>
          <a:prstGeom prst="roundRect">
            <a:avLst>
              <a:gd name="adj" fmla="val 6857"/>
            </a:avLst>
          </a:prstGeom>
          <a:solidFill>
            <a:schemeClr val="bg2"/>
          </a:solidFill>
          <a:ln/>
        </p:spPr>
      </p:sp>
      <p:sp>
        <p:nvSpPr>
          <p:cNvPr id="6" name="deploy 1 dot"/>
          <p:cNvSpPr/>
          <p:nvPr/>
        </p:nvSpPr>
        <p:spPr>
          <a:xfrm>
            <a:off x="822960" y="3017520"/>
            <a:ext cx="457200" cy="457200"/>
          </a:xfrm>
          <a:prstGeom prst="ellipse">
            <a:avLst/>
          </a:prstGeom>
          <a:solidFill>
            <a:schemeClr val="accent1"/>
          </a:solidFill>
          <a:ln/>
        </p:spPr>
      </p:sp>
      <p:sp>
        <p:nvSpPr>
          <p:cNvPr id="7" name="deploy 1 num"/>
          <p:cNvSpPr txBox="1"/>
          <p:nvPr/>
        </p:nvSpPr>
        <p:spPr>
          <a:xfrm>
            <a:off x="822960" y="3017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8" name="deploy card 1 text"/>
          <p:cNvSpPr txBox="1"/>
          <p:nvPr/>
        </p:nvSpPr>
        <p:spPr>
          <a:xfrm>
            <a:off x="1508760" y="2971800"/>
            <a:ext cx="4175608" cy="1188720"/>
          </a:xfrm>
          <a:prstGeom prst="rect">
            <a:avLst/>
          </a:prstGeom>
          <a:noFill/>
          <a:ln/>
        </p:spPr>
        <p:txBody>
          <a:bodyPr wrap="square" lIns="0" tIns="0" rIns="0" bIns="0" rtlCol="0" anchor="t"/>
          <a:lstStyle/>
          <a:p>
            <a:pPr indent="0" marL="0">
              <a:buNone/>
            </a:pPr>
            <a:r>
              <a:rPr lang="en-US" sz="1700" b="1" dirty="0">
                <a:solidFill>
                  <a:schemeClr val="tx2"/>
                </a:solidFill>
              </a:rPr>
              <a:t>Model</a:t>
            </a:r>
            <a:endParaRPr lang="en-US" sz="1700" dirty="0"/>
          </a:p>
          <a:p>
            <a:pPr indent="0" marL="0">
              <a:buNone/>
            </a:pPr>
            <a:r>
              <a:rPr lang="en-US" sz="1500" dirty="0">
                <a:solidFill>
                  <a:schemeClr val="tx1"/>
                </a:solidFill>
              </a:rPr>
              <a:t>models/image/suite2p_image_lgb.pkl: 27 + 17 features, 29 sessions, 466 trees</a:t>
            </a:r>
            <a:endParaRPr lang="en-US" sz="1700" dirty="0"/>
          </a:p>
        </p:txBody>
      </p:sp>
      <p:sp>
        <p:nvSpPr>
          <p:cNvPr id="9" name="deploy card 2"/>
          <p:cNvSpPr/>
          <p:nvPr/>
        </p:nvSpPr>
        <p:spPr>
          <a:xfrm>
            <a:off x="6233008" y="2743200"/>
            <a:ext cx="5410048" cy="1600200"/>
          </a:xfrm>
          <a:prstGeom prst="roundRect">
            <a:avLst>
              <a:gd name="adj" fmla="val 6857"/>
            </a:avLst>
          </a:prstGeom>
          <a:solidFill>
            <a:schemeClr val="bg2"/>
          </a:solidFill>
          <a:ln/>
        </p:spPr>
      </p:sp>
      <p:sp>
        <p:nvSpPr>
          <p:cNvPr id="10" name="deploy 2 dot"/>
          <p:cNvSpPr/>
          <p:nvPr/>
        </p:nvSpPr>
        <p:spPr>
          <a:xfrm>
            <a:off x="6507328" y="3017520"/>
            <a:ext cx="457200" cy="457200"/>
          </a:xfrm>
          <a:prstGeom prst="ellipse">
            <a:avLst/>
          </a:prstGeom>
          <a:solidFill>
            <a:schemeClr val="accent1"/>
          </a:solidFill>
          <a:ln/>
        </p:spPr>
      </p:sp>
      <p:sp>
        <p:nvSpPr>
          <p:cNvPr id="11" name="deploy 2 num"/>
          <p:cNvSpPr txBox="1"/>
          <p:nvPr/>
        </p:nvSpPr>
        <p:spPr>
          <a:xfrm>
            <a:off x="6507328" y="3017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2" name="deploy card 2 text"/>
          <p:cNvSpPr txBox="1"/>
          <p:nvPr/>
        </p:nvSpPr>
        <p:spPr>
          <a:xfrm>
            <a:off x="7193128" y="2971800"/>
            <a:ext cx="4175608" cy="1188720"/>
          </a:xfrm>
          <a:prstGeom prst="rect">
            <a:avLst/>
          </a:prstGeom>
          <a:noFill/>
          <a:ln/>
        </p:spPr>
        <p:txBody>
          <a:bodyPr wrap="square" lIns="0" tIns="0" rIns="0" bIns="0" rtlCol="0" anchor="t"/>
          <a:lstStyle/>
          <a:p>
            <a:pPr indent="0" marL="0">
              <a:buNone/>
            </a:pPr>
            <a:r>
              <a:rPr lang="en-US" sz="1700" b="1" dirty="0">
                <a:solidFill>
                  <a:schemeClr val="tx2"/>
                </a:solidFill>
              </a:rPr>
              <a:t>Threshold</a:t>
            </a:r>
            <a:endParaRPr lang="en-US" sz="1700" dirty="0"/>
          </a:p>
          <a:p>
            <a:pPr indent="0" marL="0">
              <a:buNone/>
            </a:pPr>
            <a:r>
              <a:rPr lang="en-US" sz="1500" dirty="0">
                <a:solidFill>
                  <a:schemeClr val="tx1"/>
                </a:solidFill>
              </a:rPr>
              <a:t>0.65, chosen by inner CV and stored in the model's JSON instead of hard-coded</a:t>
            </a:r>
            <a:endParaRPr lang="en-US" sz="1700" dirty="0"/>
          </a:p>
        </p:txBody>
      </p:sp>
      <p:sp>
        <p:nvSpPr>
          <p:cNvPr id="13" name="deploy card 3"/>
          <p:cNvSpPr/>
          <p:nvPr/>
        </p:nvSpPr>
        <p:spPr>
          <a:xfrm>
            <a:off x="548640" y="4572000"/>
            <a:ext cx="5410048" cy="1600200"/>
          </a:xfrm>
          <a:prstGeom prst="roundRect">
            <a:avLst>
              <a:gd name="adj" fmla="val 6857"/>
            </a:avLst>
          </a:prstGeom>
          <a:solidFill>
            <a:schemeClr val="bg2"/>
          </a:solidFill>
          <a:ln/>
        </p:spPr>
      </p:sp>
      <p:sp>
        <p:nvSpPr>
          <p:cNvPr id="14" name="deploy 3 dot"/>
          <p:cNvSpPr/>
          <p:nvPr/>
        </p:nvSpPr>
        <p:spPr>
          <a:xfrm>
            <a:off x="822960" y="4846320"/>
            <a:ext cx="457200" cy="457200"/>
          </a:xfrm>
          <a:prstGeom prst="ellipse">
            <a:avLst/>
          </a:prstGeom>
          <a:solidFill>
            <a:schemeClr val="accent1"/>
          </a:solidFill>
          <a:ln/>
        </p:spPr>
      </p:sp>
      <p:sp>
        <p:nvSpPr>
          <p:cNvPr id="15" name="deploy 3 num"/>
          <p:cNvSpPr txBox="1"/>
          <p:nvPr/>
        </p:nvSpPr>
        <p:spPr>
          <a:xfrm>
            <a:off x="822960" y="48463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6" name="deploy card 3 text"/>
          <p:cNvSpPr txBox="1"/>
          <p:nvPr/>
        </p:nvSpPr>
        <p:spPr>
          <a:xfrm>
            <a:off x="1508760" y="4800600"/>
            <a:ext cx="4175608" cy="1188720"/>
          </a:xfrm>
          <a:prstGeom prst="rect">
            <a:avLst/>
          </a:prstGeom>
          <a:noFill/>
          <a:ln/>
        </p:spPr>
        <p:txBody>
          <a:bodyPr wrap="square" lIns="0" tIns="0" rIns="0" bIns="0" rtlCol="0" anchor="t"/>
          <a:lstStyle/>
          <a:p>
            <a:pPr indent="0" marL="0">
              <a:buNone/>
            </a:pPr>
            <a:r>
              <a:rPr lang="en-US" sz="1700" b="1" dirty="0">
                <a:solidFill>
                  <a:schemeClr val="tx2"/>
                </a:solidFill>
              </a:rPr>
              <a:t>Same code as training</a:t>
            </a:r>
            <a:endParaRPr lang="en-US" sz="1700" dirty="0"/>
          </a:p>
          <a:p>
            <a:pPr indent="0" marL="0">
              <a:buNone/>
            </a:pPr>
            <a:r>
              <a:rPr lang="en-US" sz="1500" dirty="0">
                <a:solidFill>
                  <a:schemeClr val="tx1"/>
                </a:solidFill>
              </a:rPr>
              <a:t>Inference features computed by the training code; all 44 verified identical</a:t>
            </a:r>
            <a:endParaRPr lang="en-US" sz="1700" dirty="0"/>
          </a:p>
        </p:txBody>
      </p:sp>
      <p:sp>
        <p:nvSpPr>
          <p:cNvPr id="17" name="deploy card 4"/>
          <p:cNvSpPr/>
          <p:nvPr/>
        </p:nvSpPr>
        <p:spPr>
          <a:xfrm>
            <a:off x="6233008" y="4572000"/>
            <a:ext cx="5410048" cy="1600200"/>
          </a:xfrm>
          <a:prstGeom prst="roundRect">
            <a:avLst>
              <a:gd name="adj" fmla="val 6857"/>
            </a:avLst>
          </a:prstGeom>
          <a:solidFill>
            <a:schemeClr val="bg2"/>
          </a:solidFill>
          <a:ln/>
        </p:spPr>
      </p:sp>
      <p:sp>
        <p:nvSpPr>
          <p:cNvPr id="18" name="deploy 4 dot"/>
          <p:cNvSpPr/>
          <p:nvPr/>
        </p:nvSpPr>
        <p:spPr>
          <a:xfrm>
            <a:off x="6507328" y="4846320"/>
            <a:ext cx="457200" cy="457200"/>
          </a:xfrm>
          <a:prstGeom prst="ellipse">
            <a:avLst/>
          </a:prstGeom>
          <a:solidFill>
            <a:schemeClr val="accent1"/>
          </a:solidFill>
          <a:ln/>
        </p:spPr>
      </p:sp>
      <p:sp>
        <p:nvSpPr>
          <p:cNvPr id="19" name="deploy 4 num"/>
          <p:cNvSpPr txBox="1"/>
          <p:nvPr/>
        </p:nvSpPr>
        <p:spPr>
          <a:xfrm>
            <a:off x="6507328" y="48463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20" name="deploy card 4 text"/>
          <p:cNvSpPr txBox="1"/>
          <p:nvPr/>
        </p:nvSpPr>
        <p:spPr>
          <a:xfrm>
            <a:off x="7193128" y="4800600"/>
            <a:ext cx="4175608" cy="1188720"/>
          </a:xfrm>
          <a:prstGeom prst="rect">
            <a:avLst/>
          </a:prstGeom>
          <a:noFill/>
          <a:ln/>
        </p:spPr>
        <p:txBody>
          <a:bodyPr wrap="square" lIns="0" tIns="0" rIns="0" bIns="0" rtlCol="0" anchor="t"/>
          <a:lstStyle/>
          <a:p>
            <a:pPr indent="0" marL="0">
              <a:buNone/>
            </a:pPr>
            <a:r>
              <a:rPr lang="en-US" sz="1700" b="1" dirty="0">
                <a:solidFill>
                  <a:schemeClr val="tx2"/>
                </a:solidFill>
              </a:rPr>
              <a:t>Safe fallback</a:t>
            </a:r>
            <a:endParaRPr lang="en-US" sz="1700" dirty="0"/>
          </a:p>
          <a:p>
            <a:pPr indent="0" marL="0">
              <a:buNone/>
            </a:pPr>
            <a:r>
              <a:rPr lang="en-US" sz="1500" dirty="0">
                <a:solidFill>
                  <a:schemeClr val="tx1"/>
                </a:solidFill>
              </a:rPr>
              <a:t>If ops.npy is missing or belongs to another recording, the regular model runs</a:t>
            </a:r>
            <a:endParaRPr lang="en-US" sz="17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indent="0" marL="0">
              <a:buNone/>
            </a:pPr>
            <a:r>
              <a:rPr lang="en-US" sz="3200" b="1" dirty="0">
                <a:solidFill>
                  <a:schemeClr val="bg1"/>
                </a:solidFill>
                <a:latin typeface="Cambria" pitchFamily="34" charset="0"/>
                <a:ea typeface="Cambria" pitchFamily="34" charset="-122"/>
                <a:cs typeface="Cambria" pitchFamily="34" charset="-120"/>
              </a:rPr>
              <a:t>Recommendations</a:t>
            </a:r>
            <a:endParaRPr lang="en-US" sz="3200" dirty="0"/>
          </a:p>
        </p:txBody>
      </p:sp>
      <p:sp>
        <p:nvSpPr>
          <p:cNvPr id="3" name="recommendation 1 dot"/>
          <p:cNvSpPr/>
          <p:nvPr/>
        </p:nvSpPr>
        <p:spPr>
          <a:xfrm>
            <a:off x="548640" y="1417320"/>
            <a:ext cx="457200" cy="457200"/>
          </a:xfrm>
          <a:prstGeom prst="ellipse">
            <a:avLst/>
          </a:prstGeom>
          <a:solidFill>
            <a:schemeClr val="accent1"/>
          </a:solidFill>
          <a:ln/>
        </p:spPr>
      </p:sp>
      <p:sp>
        <p:nvSpPr>
          <p:cNvPr id="4" name="recommendation 1 num"/>
          <p:cNvSpPr txBox="1"/>
          <p:nvPr/>
        </p:nvSpPr>
        <p:spPr>
          <a:xfrm>
            <a:off x="548640" y="14173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5" name="recommendation 1 text"/>
          <p:cNvSpPr txBox="1"/>
          <p:nvPr/>
        </p:nvSpPr>
        <p:spPr>
          <a:xfrm>
            <a:off x="1280160" y="1371600"/>
            <a:ext cx="10362895" cy="731520"/>
          </a:xfrm>
          <a:prstGeom prst="rect">
            <a:avLst/>
          </a:prstGeom>
          <a:noFill/>
          <a:ln/>
        </p:spPr>
        <p:txBody>
          <a:bodyPr wrap="square" lIns="0" tIns="0" rIns="0" bIns="0" rtlCol="0" anchor="t"/>
          <a:lstStyle/>
          <a:p>
            <a:pPr indent="0" marL="0">
              <a:buNone/>
            </a:pPr>
            <a:r>
              <a:rPr lang="en-US" sz="1800" b="1" dirty="0">
                <a:solidFill>
                  <a:schemeClr val="bg1"/>
                </a:solidFill>
              </a:rPr>
              <a:t>Ship the image preset</a:t>
            </a:r>
            <a:endParaRPr lang="en-US" sz="1800" dirty="0"/>
          </a:p>
          <a:p>
            <a:pPr indent="0" marL="0">
              <a:buNone/>
            </a:pPr>
            <a:r>
              <a:rPr lang="en-US" sz="1400" dirty="0">
                <a:solidFill>
                  <a:schemeClr val="accent6"/>
                </a:solidFill>
              </a:rPr>
              <a:t>+0.026 F1, cheap, explainable with SHAP</a:t>
            </a:r>
            <a:endParaRPr lang="en-US" sz="1800" dirty="0"/>
          </a:p>
        </p:txBody>
      </p:sp>
      <p:sp>
        <p:nvSpPr>
          <p:cNvPr id="6" name="recommendation 2 dot"/>
          <p:cNvSpPr/>
          <p:nvPr/>
        </p:nvSpPr>
        <p:spPr>
          <a:xfrm>
            <a:off x="548640" y="2221992"/>
            <a:ext cx="457200" cy="457200"/>
          </a:xfrm>
          <a:prstGeom prst="ellipse">
            <a:avLst/>
          </a:prstGeom>
          <a:solidFill>
            <a:schemeClr val="accent1"/>
          </a:solidFill>
          <a:ln/>
        </p:spPr>
      </p:sp>
      <p:sp>
        <p:nvSpPr>
          <p:cNvPr id="7" name="recommendation 2 num"/>
          <p:cNvSpPr txBox="1"/>
          <p:nvPr/>
        </p:nvSpPr>
        <p:spPr>
          <a:xfrm>
            <a:off x="548640" y="2221992"/>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8" name="recommendation 2 text"/>
          <p:cNvSpPr txBox="1"/>
          <p:nvPr/>
        </p:nvSpPr>
        <p:spPr>
          <a:xfrm>
            <a:off x="1280160" y="2176272"/>
            <a:ext cx="10362895" cy="731520"/>
          </a:xfrm>
          <a:prstGeom prst="rect">
            <a:avLst/>
          </a:prstGeom>
          <a:noFill/>
          <a:ln/>
        </p:spPr>
        <p:txBody>
          <a:bodyPr wrap="square" lIns="0" tIns="0" rIns="0" bIns="0" rtlCol="0" anchor="t"/>
          <a:lstStyle/>
          <a:p>
            <a:pPr indent="0" marL="0">
              <a:buNone/>
            </a:pPr>
            <a:r>
              <a:rPr lang="en-US" sz="1800" b="1" dirty="0">
                <a:solidFill>
                  <a:schemeClr val="bg1"/>
                </a:solidFill>
              </a:rPr>
              <a:t>Review labels in Inbar3, inbar1, Stav14</a:t>
            </a:r>
            <a:endParaRPr lang="en-US" sz="1800" dirty="0"/>
          </a:p>
          <a:p>
            <a:pPr indent="0" marL="0">
              <a:buNone/>
            </a:pPr>
            <a:r>
              <a:rPr lang="en-US" sz="1400" dirty="0">
                <a:solidFill>
                  <a:schemeClr val="accent6"/>
                </a:solidFill>
              </a:rPr>
              <a:t>Many 'errors' may be labelling calls; fixing them helps scoring and training</a:t>
            </a:r>
            <a:endParaRPr lang="en-US" sz="1800" dirty="0"/>
          </a:p>
        </p:txBody>
      </p:sp>
      <p:sp>
        <p:nvSpPr>
          <p:cNvPr id="9" name="recommendation 3 dot"/>
          <p:cNvSpPr/>
          <p:nvPr/>
        </p:nvSpPr>
        <p:spPr>
          <a:xfrm>
            <a:off x="548640" y="3026664"/>
            <a:ext cx="457200" cy="457200"/>
          </a:xfrm>
          <a:prstGeom prst="ellipse">
            <a:avLst/>
          </a:prstGeom>
          <a:solidFill>
            <a:schemeClr val="accent1"/>
          </a:solidFill>
          <a:ln/>
        </p:spPr>
      </p:sp>
      <p:sp>
        <p:nvSpPr>
          <p:cNvPr id="10" name="recommendation 3 num"/>
          <p:cNvSpPr txBox="1"/>
          <p:nvPr/>
        </p:nvSpPr>
        <p:spPr>
          <a:xfrm>
            <a:off x="548640" y="3026664"/>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1" name="recommendation 3 text"/>
          <p:cNvSpPr txBox="1"/>
          <p:nvPr/>
        </p:nvSpPr>
        <p:spPr>
          <a:xfrm>
            <a:off x="1280160" y="2980944"/>
            <a:ext cx="10362895" cy="731520"/>
          </a:xfrm>
          <a:prstGeom prst="rect">
            <a:avLst/>
          </a:prstGeom>
          <a:noFill/>
          <a:ln/>
        </p:spPr>
        <p:txBody>
          <a:bodyPr wrap="square" lIns="0" tIns="0" rIns="0" bIns="0" rtlCol="0" anchor="t"/>
          <a:lstStyle/>
          <a:p>
            <a:pPr indent="0" marL="0">
              <a:buNone/>
            </a:pPr>
            <a:r>
              <a:rPr lang="en-US" sz="1800" b="1" dirty="0">
                <a:solidFill>
                  <a:schemeClr val="bg1"/>
                </a:solidFill>
              </a:rPr>
              <a:t>Use a per-lab threshold, and train on each lab's own labels when there is enough</a:t>
            </a:r>
            <a:endParaRPr lang="en-US" sz="1800" dirty="0"/>
          </a:p>
          <a:p>
            <a:pPr indent="0" marL="0">
              <a:buNone/>
            </a:pPr>
            <a:r>
              <a:rPr lang="en-US" sz="1400" dirty="0">
                <a:solidFill>
                  <a:schemeClr val="accent6"/>
                </a:solidFill>
              </a:rPr>
              <a:t>Own-lab training wins by up to +0.04 F1; the dashboard slider already allows a different threshold</a:t>
            </a:r>
            <a:endParaRPr lang="en-US" sz="1800" dirty="0"/>
          </a:p>
        </p:txBody>
      </p:sp>
      <p:sp>
        <p:nvSpPr>
          <p:cNvPr id="12" name="recommendation 4 dot"/>
          <p:cNvSpPr/>
          <p:nvPr/>
        </p:nvSpPr>
        <p:spPr>
          <a:xfrm>
            <a:off x="548640" y="3831336"/>
            <a:ext cx="457200" cy="457200"/>
          </a:xfrm>
          <a:prstGeom prst="ellipse">
            <a:avLst/>
          </a:prstGeom>
          <a:solidFill>
            <a:schemeClr val="accent1"/>
          </a:solidFill>
          <a:ln/>
        </p:spPr>
      </p:sp>
      <p:sp>
        <p:nvSpPr>
          <p:cNvPr id="13" name="recommendation 4 num"/>
          <p:cNvSpPr txBox="1"/>
          <p:nvPr/>
        </p:nvSpPr>
        <p:spPr>
          <a:xfrm>
            <a:off x="548640" y="3831336"/>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14" name="recommendation 4 text"/>
          <p:cNvSpPr txBox="1"/>
          <p:nvPr/>
        </p:nvSpPr>
        <p:spPr>
          <a:xfrm>
            <a:off x="1280160" y="3785616"/>
            <a:ext cx="10362895" cy="731520"/>
          </a:xfrm>
          <a:prstGeom prst="rect">
            <a:avLst/>
          </a:prstGeom>
          <a:noFill/>
          <a:ln/>
        </p:spPr>
        <p:txBody>
          <a:bodyPr wrap="square" lIns="0" tIns="0" rIns="0" bIns="0" rtlCol="0" anchor="t"/>
          <a:lstStyle/>
          <a:p>
            <a:pPr indent="0" marL="0">
              <a:buNone/>
            </a:pPr>
            <a:r>
              <a:rPr lang="en-US" sz="1800" b="1" dirty="0">
                <a:solidFill>
                  <a:schemeClr val="bg1"/>
                </a:solidFill>
              </a:rPr>
              <a:t>Measure labeller agreement directly</a:t>
            </a:r>
            <a:endParaRPr lang="en-US" sz="1800" dirty="0"/>
          </a:p>
          <a:p>
            <a:pPr indent="0" marL="0">
              <a:buNone/>
            </a:pPr>
            <a:r>
              <a:rPr lang="en-US" sz="1400" dirty="0">
                <a:solidFill>
                  <a:schemeClr val="accent6"/>
                </a:solidFill>
              </a:rPr>
              <a:t>Have Stav and Inbar label the same 2–3 sessions; this separates labelling style from recording differences</a:t>
            </a:r>
            <a:endParaRPr lang="en-US" sz="1800" dirty="0"/>
          </a:p>
        </p:txBody>
      </p:sp>
      <p:sp>
        <p:nvSpPr>
          <p:cNvPr id="15" name="recommendation 5 dot"/>
          <p:cNvSpPr/>
          <p:nvPr/>
        </p:nvSpPr>
        <p:spPr>
          <a:xfrm>
            <a:off x="548640" y="4636008"/>
            <a:ext cx="457200" cy="457200"/>
          </a:xfrm>
          <a:prstGeom prst="ellipse">
            <a:avLst/>
          </a:prstGeom>
          <a:solidFill>
            <a:schemeClr val="accent1"/>
          </a:solidFill>
          <a:ln/>
        </p:spPr>
      </p:sp>
      <p:sp>
        <p:nvSpPr>
          <p:cNvPr id="16" name="recommendation 5 num"/>
          <p:cNvSpPr txBox="1"/>
          <p:nvPr/>
        </p:nvSpPr>
        <p:spPr>
          <a:xfrm>
            <a:off x="548640" y="4636008"/>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17" name="recommendation 5 text"/>
          <p:cNvSpPr txBox="1"/>
          <p:nvPr/>
        </p:nvSpPr>
        <p:spPr>
          <a:xfrm>
            <a:off x="1280160" y="4590288"/>
            <a:ext cx="10362895" cy="731520"/>
          </a:xfrm>
          <a:prstGeom prst="rect">
            <a:avLst/>
          </a:prstGeom>
          <a:noFill/>
          <a:ln/>
        </p:spPr>
        <p:txBody>
          <a:bodyPr wrap="square" lIns="0" tIns="0" rIns="0" bIns="0" rtlCol="0" anchor="t"/>
          <a:lstStyle/>
          <a:p>
            <a:pPr indent="0" marL="0">
              <a:buNone/>
            </a:pPr>
            <a:r>
              <a:rPr lang="en-US" sz="1800" b="1" dirty="0">
                <a:solidFill>
                  <a:schemeClr val="bg1"/>
                </a:solidFill>
              </a:rPr>
              <a:t>Add the CNN only if 0.007 matters</a:t>
            </a:r>
            <a:endParaRPr lang="en-US" sz="1800" dirty="0"/>
          </a:p>
          <a:p>
            <a:pPr indent="0" marL="0">
              <a:buNone/>
            </a:pPr>
            <a:r>
              <a:rPr lang="en-US" sz="1400" dirty="0">
                <a:solidFill>
                  <a:schemeClr val="accent6"/>
                </a:solidFill>
              </a:rPr>
              <a:t>Best model is 0.861, but needs a CNN at inference</a:t>
            </a:r>
            <a:endParaRPr lang="en-US" sz="1800" dirty="0"/>
          </a:p>
        </p:txBody>
      </p:sp>
      <p:sp>
        <p:nvSpPr>
          <p:cNvPr id="18" name="recommendation 6 dot"/>
          <p:cNvSpPr/>
          <p:nvPr/>
        </p:nvSpPr>
        <p:spPr>
          <a:xfrm>
            <a:off x="548640" y="5440680"/>
            <a:ext cx="457200" cy="457200"/>
          </a:xfrm>
          <a:prstGeom prst="ellipse">
            <a:avLst/>
          </a:prstGeom>
          <a:solidFill>
            <a:schemeClr val="accent1"/>
          </a:solidFill>
          <a:ln/>
        </p:spPr>
      </p:sp>
      <p:sp>
        <p:nvSpPr>
          <p:cNvPr id="19" name="recommendation 6 num"/>
          <p:cNvSpPr txBox="1"/>
          <p:nvPr/>
        </p:nvSpPr>
        <p:spPr>
          <a:xfrm>
            <a:off x="548640" y="54406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6</a:t>
            </a:r>
            <a:endParaRPr lang="en-US" sz="1500" dirty="0"/>
          </a:p>
        </p:txBody>
      </p:sp>
      <p:sp>
        <p:nvSpPr>
          <p:cNvPr id="20" name="recommendation 6 text"/>
          <p:cNvSpPr txBox="1"/>
          <p:nvPr/>
        </p:nvSpPr>
        <p:spPr>
          <a:xfrm>
            <a:off x="1280160" y="5394960"/>
            <a:ext cx="10362895" cy="731520"/>
          </a:xfrm>
          <a:prstGeom prst="rect">
            <a:avLst/>
          </a:prstGeom>
          <a:noFill/>
          <a:ln/>
        </p:spPr>
        <p:txBody>
          <a:bodyPr wrap="square" lIns="0" tIns="0" rIns="0" bIns="0" rtlCol="0" anchor="t"/>
          <a:lstStyle/>
          <a:p>
            <a:pPr indent="0" marL="0">
              <a:buNone/>
            </a:pPr>
            <a:r>
              <a:rPr lang="en-US" sz="1800" b="1" dirty="0">
                <a:solidFill>
                  <a:schemeClr val="bg1"/>
                </a:solidFill>
              </a:rPr>
              <a:t>Fix the regular model's feature mismatch</a:t>
            </a:r>
            <a:endParaRPr lang="en-US" sz="1800" dirty="0"/>
          </a:p>
          <a:p>
            <a:pPr indent="0" marL="0">
              <a:buNone/>
            </a:pPr>
            <a:r>
              <a:rPr lang="en-US" sz="1400" dirty="0">
                <a:solidFill>
                  <a:schemeClr val="accent6"/>
                </a:solidFill>
              </a:rPr>
              <a:t>Its cached quantile features are scaled differently at training and inference</a:t>
            </a:r>
            <a:endParaRPr lang="en-US" sz="18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Calcium Imaging">
  <a:themeElements>
    <a:clrScheme name="Calcium Imaging">
      <a:dk1>
        <a:srgbClr val="1B2631"/>
      </a:dk1>
      <a:lt1>
        <a:srgbClr val="FFFFFF"/>
      </a:lt1>
      <a:dk2>
        <a:srgbClr val="0E3B43"/>
      </a:dk2>
      <a:lt2>
        <a:srgbClr val="EEF4F3"/>
      </a:lt2>
      <a:accent1>
        <a:srgbClr val="12A37D"/>
      </a:accent1>
      <a:accent2>
        <a:srgbClr val="0E6E7E"/>
      </a:accent2>
      <a:accent3>
        <a:srgbClr val="E39B2F"/>
      </a:accent3>
      <a:accent4>
        <a:srgbClr val="6B7B88"/>
      </a:accent4>
      <a:accent5>
        <a:srgbClr val="C44536"/>
      </a:accent5>
      <a:accent6>
        <a:srgbClr val="A8D5C4"/>
      </a:accent6>
      <a:hlink>
        <a:srgbClr val="0E6E7E"/>
      </a:hlink>
      <a:folHlink>
        <a:srgbClr val="6B7B88"/>
      </a:folHlink>
    </a:clrScheme>
    <a:fontScheme name="Calcium Imag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Suite2p ROI classification: image features and honest evaluation</dc:title>
  <dc:subject>PptxGenJS Presentation</dc:subject>
  <dc:creator>Claude</dc:creator>
  <cp:lastModifiedBy>Claude</cp:lastModifiedBy>
  <cp:revision>1</cp:revision>
  <dcterms:created xsi:type="dcterms:W3CDTF">2026-10-11T12:01:23Z</dcterms:created>
  <dcterms:modified xsi:type="dcterms:W3CDTF">2026-10-11T12:01:23Z</dcterms:modified>
</cp:coreProperties>
</file>